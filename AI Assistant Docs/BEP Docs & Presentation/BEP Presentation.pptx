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9" r:id="rId4"/>
    <p:sldId id="260" r:id="rId5"/>
    <p:sldId id="261" r:id="rId6"/>
    <p:sldId id="262" r:id="rId7"/>
    <p:sldId id="263" r:id="rId8"/>
    <p:sldId id="264"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331E"/>
    <a:srgbClr val="1D39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p:restoredTop sz="94610"/>
  </p:normalViewPr>
  <p:slideViewPr>
    <p:cSldViewPr snapToGrid="0" snapToObjects="1">
      <p:cViewPr varScale="1">
        <p:scale>
          <a:sx n="82" d="100"/>
          <a:sy n="82" d="100"/>
        </p:scale>
        <p:origin x="6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Perry" userId="a9fe70f4-85b5-48d4-ba3b-778d03fca3c9" providerId="ADAL" clId="{204BB8EF-D153-4050-A40B-F1F461D08125}"/>
    <pc:docChg chg="custSel delSld modSld">
      <pc:chgData name="John Perry" userId="a9fe70f4-85b5-48d4-ba3b-778d03fca3c9" providerId="ADAL" clId="{204BB8EF-D153-4050-A40B-F1F461D08125}" dt="2026-08-20T08:35:42.208" v="460" actId="20577"/>
      <pc:docMkLst>
        <pc:docMk/>
      </pc:docMkLst>
      <pc:sldChg chg="modSp mod">
        <pc:chgData name="John Perry" userId="a9fe70f4-85b5-48d4-ba3b-778d03fca3c9" providerId="ADAL" clId="{204BB8EF-D153-4050-A40B-F1F461D08125}" dt="2026-08-20T08:35:42.208" v="460" actId="20577"/>
        <pc:sldMkLst>
          <pc:docMk/>
          <pc:sldMk cId="0" sldId="264"/>
        </pc:sldMkLst>
        <pc:spChg chg="mod">
          <ac:chgData name="John Perry" userId="a9fe70f4-85b5-48d4-ba3b-778d03fca3c9" providerId="ADAL" clId="{204BB8EF-D153-4050-A40B-F1F461D08125}" dt="2026-08-19T09:26:42.445" v="450" actId="20577"/>
          <ac:spMkLst>
            <pc:docMk/>
            <pc:sldMk cId="0" sldId="264"/>
            <ac:spMk id="8" creationId="{00000000-0000-0000-0000-000000000000}"/>
          </ac:spMkLst>
        </pc:spChg>
        <pc:spChg chg="mod">
          <ac:chgData name="John Perry" userId="a9fe70f4-85b5-48d4-ba3b-778d03fca3c9" providerId="ADAL" clId="{204BB8EF-D153-4050-A40B-F1F461D08125}" dt="2026-08-20T08:35:42.208" v="460" actId="20577"/>
          <ac:spMkLst>
            <pc:docMk/>
            <pc:sldMk cId="0" sldId="264"/>
            <ac:spMk id="16" creationId="{7A9505E1-58A9-0834-5D8C-0E05FCC58CDD}"/>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Q3 2024</c:v>
                </c:pt>
              </c:strCache>
            </c:strRef>
          </c:tx>
          <c:spPr>
            <a:solidFill>
              <a:srgbClr val="1E392A"/>
            </a:solidFill>
            <a:effectLst/>
          </c:spPr>
          <c:invertIfNegative val="0"/>
          <c:dLbls>
            <c:numFmt formatCode="#,##0" sourceLinked="0"/>
            <c:spPr>
              <a:noFill/>
              <a:ln>
                <a:noFill/>
              </a:ln>
              <a:effectLst/>
            </c:spPr>
            <c:txPr>
              <a:bodyPr/>
              <a:lstStyle/>
              <a:p>
                <a:pPr>
                  <a:defRPr sz="900" b="0" i="0" u="none" strike="noStrike">
                    <a:solidFill>
                      <a:srgbClr val="6A6A6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China</c:v>
                </c:pt>
                <c:pt idx="1">
                  <c:v>Hong Kong</c:v>
                </c:pt>
                <c:pt idx="2">
                  <c:v>Turkey</c:v>
                </c:pt>
                <c:pt idx="3">
                  <c:v>Thailand</c:v>
                </c:pt>
                <c:pt idx="4">
                  <c:v>Japan</c:v>
                </c:pt>
              </c:strCache>
            </c:strRef>
          </c:cat>
          <c:val>
            <c:numRef>
              <c:f>Sheet1!$B$2:$B$6</c:f>
              <c:numCache>
                <c:formatCode>General</c:formatCode>
                <c:ptCount val="5"/>
                <c:pt idx="0">
                  <c:v>3239</c:v>
                </c:pt>
                <c:pt idx="1">
                  <c:v>1229</c:v>
                </c:pt>
                <c:pt idx="2">
                  <c:v>263</c:v>
                </c:pt>
                <c:pt idx="3">
                  <c:v>218</c:v>
                </c:pt>
                <c:pt idx="4">
                  <c:v>213</c:v>
                </c:pt>
              </c:numCache>
            </c:numRef>
          </c:val>
          <c:extLst>
            <c:ext xmlns:c16="http://schemas.microsoft.com/office/drawing/2014/chart" uri="{C3380CC4-5D6E-409C-BE32-E72D297353CC}">
              <c16:uniqueId val="{00000000-DC95-46BA-BD4E-85586FF42D74}"/>
            </c:ext>
          </c:extLst>
        </c:ser>
        <c:ser>
          <c:idx val="1"/>
          <c:order val="1"/>
          <c:tx>
            <c:strRef>
              <c:f>Sheet1!$C$1</c:f>
              <c:strCache>
                <c:ptCount val="1"/>
                <c:pt idx="0">
                  <c:v>Q3 2025</c:v>
                </c:pt>
              </c:strCache>
            </c:strRef>
          </c:tx>
          <c:spPr>
            <a:solidFill>
              <a:srgbClr val="B99A5B"/>
            </a:solidFill>
            <a:effectLst/>
          </c:spPr>
          <c:invertIfNegative val="0"/>
          <c:dLbls>
            <c:numFmt formatCode="#,##0" sourceLinked="0"/>
            <c:spPr>
              <a:noFill/>
              <a:ln>
                <a:noFill/>
              </a:ln>
              <a:effectLst/>
            </c:spPr>
            <c:txPr>
              <a:bodyPr/>
              <a:lstStyle/>
              <a:p>
                <a:pPr>
                  <a:defRPr sz="900" b="0" i="0" u="none" strike="noStrike">
                    <a:solidFill>
                      <a:srgbClr val="6A6A6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China</c:v>
                </c:pt>
                <c:pt idx="1">
                  <c:v>Hong Kong</c:v>
                </c:pt>
                <c:pt idx="2">
                  <c:v>Turkey</c:v>
                </c:pt>
                <c:pt idx="3">
                  <c:v>Thailand</c:v>
                </c:pt>
                <c:pt idx="4">
                  <c:v>Japan</c:v>
                </c:pt>
              </c:strCache>
            </c:strRef>
          </c:cat>
          <c:val>
            <c:numRef>
              <c:f>Sheet1!$C$2:$C$6</c:f>
              <c:numCache>
                <c:formatCode>General</c:formatCode>
                <c:ptCount val="5"/>
                <c:pt idx="0">
                  <c:v>2444</c:v>
                </c:pt>
                <c:pt idx="1">
                  <c:v>824</c:v>
                </c:pt>
                <c:pt idx="2">
                  <c:v>337</c:v>
                </c:pt>
                <c:pt idx="3">
                  <c:v>225</c:v>
                </c:pt>
                <c:pt idx="4">
                  <c:v>221</c:v>
                </c:pt>
              </c:numCache>
            </c:numRef>
          </c:val>
          <c:extLst>
            <c:ext xmlns:c16="http://schemas.microsoft.com/office/drawing/2014/chart" uri="{C3380CC4-5D6E-409C-BE32-E72D297353CC}">
              <c16:uniqueId val="{00000001-DC95-46BA-BD4E-85586FF42D7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3232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solidFill>
                <a:srgbClr val="6A6A6A"/>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2749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introductions. One line only: BEP runs international enrolment for a small group of British boarding schools as one integrated, always-on function. Today: the problem we see, how we solve it, ways of working, then mostly we want to hear about your school.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ninety seconds. The credential that matters: we have filled our own boarding houses through COVID, cost-of-living and VAT before being asked to help fill anyone else's. Worth adding verbally: admissions and UKVI compliance expertise from an operator's viewpoint, we have carried these obligations ourselves. Then move to their school.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not doom. The point is concentration risk: most schools' international intake leans on the two markets falling fastest. A shrinking market punishes a narrow agent footprint. Recruitment now has to work harder AND smarter: more markets, better agents, no leakage.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slide. Estates, catering, finance and IT professionalised years ago; international enrolment is the last strategic function still run from the margins of a registrar's week. BEP is that function, run or scaffolded for you.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differentiating asset. Catering never meets the family; enrolment does, so the line matters. Everything outside the school gate is ours to run; everything at it is yours to give. We protect that rather than absorb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Anticipates the standard objections. Portfolio question: at agent level we market a curated portfolio for reach; at family level there is no portfolio, there is a pupil and the one right school, each school represented on its own mandate in its agreed territories. Conflict question (how do you direct an agent who brings a pupil): BEP is paid for running each school's function, not per placement, so no commission incentive to steer; each school holds a mandate in named territories with a minimum commitment attached; and the CRM shows the school exactly what was done in its markets, so favouritism would be visible in the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in under two minutes. The closing line is the retention-alignment point: our interest runs to pupils staying, which pulls in the same direction as yours.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fit is the product, the numbers are the evidence. The guarantee is a floor, not a target: qualified means families matching the profile the school set. We would rather deliver eight right families than twenty enquiries; the guarantee means you are never paying for a quiet pipeline. Speak to fees verbally; nothing on the slide. Guarantee definition: qualified applications means right-fit families through the full process; admission decisions are always the school's, so we guarantee the pipeline, not the outcome. One boarder is worth GBP 40-60k a year in fee income.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presenting here. Ask the three questions and listen, using the discovery checklist: current pupil numbers, international targets, boarding capacity, nationality mix, academic profile, international staffing, existing markets, current agencies, recruitment challenges, areas for growth. Close on one next step: the tailored proposal, and agree its arrival date before the meeting ends. If the school hesitates or wants more evidence before committing, table the free international recruitment audit as a no-obligation way to keep the conversation alive.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31E"/>
        </a:solidFill>
        <a:effectLst/>
      </p:bgPr>
    </p:bg>
    <p:spTree>
      <p:nvGrpSpPr>
        <p:cNvPr id="1" name=""/>
        <p:cNvGrpSpPr/>
        <p:nvPr/>
      </p:nvGrpSpPr>
      <p:grpSpPr>
        <a:xfrm>
          <a:off x="0" y="0"/>
          <a:ext cx="0" cy="0"/>
          <a:chOff x="0" y="0"/>
          <a:chExt cx="0" cy="0"/>
        </a:xfrm>
      </p:grpSpPr>
      <p:pic>
        <p:nvPicPr>
          <p:cNvPr id="2" name="Image 0" descr="icons/Cream Transparent.png"/>
          <p:cNvPicPr>
            <a:picLocks noChangeAspect="1"/>
          </p:cNvPicPr>
          <p:nvPr/>
        </p:nvPicPr>
        <p:blipFill>
          <a:blip r:embed="rId3">
            <a:alphaModFix amt="12000"/>
          </a:blip>
          <a:stretch>
            <a:fillRect/>
          </a:stretch>
        </p:blipFill>
        <p:spPr>
          <a:xfrm>
            <a:off x="9595556" y="4264604"/>
            <a:ext cx="3690676" cy="3690676"/>
          </a:xfrm>
          <a:prstGeom prst="rect">
            <a:avLst/>
          </a:prstGeom>
        </p:spPr>
      </p:pic>
      <p:pic>
        <p:nvPicPr>
          <p:cNvPr id="3" name="Image 1" descr="logos/BEP White Transparent.png"/>
          <p:cNvPicPr>
            <a:picLocks noChangeAspect="1"/>
          </p:cNvPicPr>
          <p:nvPr/>
        </p:nvPicPr>
        <p:blipFill>
          <a:blip r:embed="rId4"/>
          <a:stretch>
            <a:fillRect/>
          </a:stretch>
        </p:blipFill>
        <p:spPr>
          <a:xfrm>
            <a:off x="3182450" y="1417320"/>
            <a:ext cx="5827099" cy="2913550"/>
          </a:xfrm>
          <a:prstGeom prst="rect">
            <a:avLst/>
          </a:prstGeom>
        </p:spPr>
      </p:pic>
      <p:sp>
        <p:nvSpPr>
          <p:cNvPr id="4" name="Text 0"/>
          <p:cNvSpPr/>
          <p:nvPr/>
        </p:nvSpPr>
        <p:spPr>
          <a:xfrm>
            <a:off x="-79022" y="4330870"/>
            <a:ext cx="12188952" cy="365760"/>
          </a:xfrm>
          <a:prstGeom prst="rect">
            <a:avLst/>
          </a:prstGeom>
          <a:noFill/>
          <a:ln/>
        </p:spPr>
        <p:txBody>
          <a:bodyPr wrap="square" rtlCol="0" anchor="ctr"/>
          <a:lstStyle/>
          <a:p>
            <a:pPr marL="0" indent="0" algn="ctr">
              <a:buNone/>
            </a:pPr>
            <a:r>
              <a:rPr lang="en-US" b="1" dirty="0">
                <a:solidFill>
                  <a:srgbClr val="F1EDE3"/>
                </a:solidFill>
                <a:latin typeface="Grotesque" panose="020B0504020202020204" pitchFamily="34" charset="0"/>
                <a:ea typeface="Calibri" pitchFamily="34" charset="-122"/>
                <a:cs typeface="Calibri" pitchFamily="34" charset="-120"/>
              </a:rPr>
              <a:t>A conversation about your international enrolment</a:t>
            </a:r>
            <a:endParaRPr lang="en-US" b="1" dirty="0">
              <a:latin typeface="Grotesque" panose="020B05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icons/Gold Transparent.png"/>
          <p:cNvPicPr>
            <a:picLocks noChangeAspect="1"/>
          </p:cNvPicPr>
          <p:nvPr/>
        </p:nvPicPr>
        <p:blipFill>
          <a:blip r:embed="rId3"/>
          <a:stretch>
            <a:fillRect/>
          </a:stretch>
        </p:blipFill>
        <p:spPr>
          <a:xfrm>
            <a:off x="11228832" y="411480"/>
            <a:ext cx="502920" cy="502920"/>
          </a:xfrm>
          <a:prstGeom prst="rect">
            <a:avLst/>
          </a:prstGeom>
        </p:spPr>
      </p:pic>
      <p:sp>
        <p:nvSpPr>
          <p:cNvPr id="3" name="Text 0"/>
          <p:cNvSpPr/>
          <p:nvPr/>
        </p:nvSpPr>
        <p:spPr>
          <a:xfrm>
            <a:off x="640080" y="384048"/>
            <a:ext cx="8686800" cy="320040"/>
          </a:xfrm>
          <a:prstGeom prst="rect">
            <a:avLst/>
          </a:prstGeom>
          <a:noFill/>
          <a:ln/>
        </p:spPr>
        <p:txBody>
          <a:bodyPr wrap="square" lIns="0" tIns="0" rIns="0" bIns="0" rtlCol="0" anchor="ctr"/>
          <a:lstStyle/>
          <a:p>
            <a:pPr marL="0" indent="0">
              <a:buNone/>
            </a:pPr>
            <a:r>
              <a:rPr lang="en-US" sz="1200" b="1" kern="0" spc="300" dirty="0">
                <a:solidFill>
                  <a:srgbClr val="B99A5B"/>
                </a:solidFill>
                <a:latin typeface="Grotesque" panose="020B0504020202020204" pitchFamily="34" charset="0"/>
                <a:ea typeface="Calibri" pitchFamily="34" charset="-122"/>
                <a:cs typeface="Calibri" pitchFamily="34" charset="-120"/>
              </a:rPr>
              <a:t>WHO WE ARE</a:t>
            </a:r>
            <a:endParaRPr lang="en-US" sz="1200" dirty="0">
              <a:latin typeface="Grotesque" panose="020B0504020202020204" pitchFamily="34" charset="0"/>
            </a:endParaRPr>
          </a:p>
        </p:txBody>
      </p:sp>
      <p:sp>
        <p:nvSpPr>
          <p:cNvPr id="4" name="Text 1"/>
          <p:cNvSpPr/>
          <p:nvPr/>
        </p:nvSpPr>
        <p:spPr>
          <a:xfrm>
            <a:off x="640080" y="658368"/>
            <a:ext cx="10424160" cy="868680"/>
          </a:xfrm>
          <a:prstGeom prst="rect">
            <a:avLst/>
          </a:prstGeom>
          <a:noFill/>
          <a:ln/>
        </p:spPr>
        <p:txBody>
          <a:bodyPr wrap="square" lIns="0" tIns="0" rIns="0" bIns="0" rtlCol="0" anchor="ctr"/>
          <a:lstStyle/>
          <a:p>
            <a:pPr marL="0" indent="0">
              <a:buNone/>
            </a:pPr>
            <a:r>
              <a:rPr lang="en-US" sz="3600" b="1" dirty="0">
                <a:solidFill>
                  <a:srgbClr val="16331E"/>
                </a:solidFill>
                <a:latin typeface="Cormorant Garamond" pitchFamily="2" charset="77"/>
                <a:ea typeface="Century Schoolbook" pitchFamily="34" charset="-122"/>
                <a:cs typeface="Century Schoolbook" pitchFamily="34" charset="-120"/>
              </a:rPr>
              <a:t>Built by people who have sat in your chair</a:t>
            </a:r>
            <a:endParaRPr lang="en-US" sz="3600" dirty="0">
              <a:solidFill>
                <a:srgbClr val="16331E"/>
              </a:solidFill>
              <a:latin typeface="Cormorant Garamond" pitchFamily="2" charset="77"/>
            </a:endParaRPr>
          </a:p>
        </p:txBody>
      </p:sp>
      <p:sp>
        <p:nvSpPr>
          <p:cNvPr id="5" name="Text 2"/>
          <p:cNvSpPr/>
          <p:nvPr/>
        </p:nvSpPr>
        <p:spPr>
          <a:xfrm>
            <a:off x="640080" y="1660593"/>
            <a:ext cx="10881360" cy="1005840"/>
          </a:xfrm>
          <a:prstGeom prst="rect">
            <a:avLst/>
          </a:prstGeom>
          <a:noFill/>
          <a:ln/>
        </p:spPr>
        <p:txBody>
          <a:bodyPr wrap="square" lIns="0" tIns="0" rIns="0" bIns="0" rtlCol="0" anchor="ctr"/>
          <a:lstStyle/>
          <a:p>
            <a:pPr marL="0" indent="0">
              <a:buNone/>
            </a:pPr>
            <a:r>
              <a:rPr lang="en-US" sz="1450" b="1" dirty="0">
                <a:solidFill>
                  <a:srgbClr val="1E392A"/>
                </a:solidFill>
                <a:latin typeface="Grotesque" panose="020B0504020202020204" pitchFamily="34" charset="0"/>
                <a:ea typeface="Calibri" pitchFamily="34" charset="-122"/>
                <a:cs typeface="Calibri" pitchFamily="34" charset="-120"/>
              </a:rPr>
              <a:t>Ying Liu, Founder and CEO. </a:t>
            </a:r>
            <a:r>
              <a:rPr lang="en-US" sz="1450" dirty="0">
                <a:solidFill>
                  <a:srgbClr val="232323"/>
                </a:solidFill>
                <a:latin typeface="Grotesque" panose="020B0504020202020204" pitchFamily="34" charset="0"/>
                <a:ea typeface="Calibri" pitchFamily="34" charset="-122"/>
                <a:cs typeface="Calibri" pitchFamily="34" charset="-120"/>
              </a:rPr>
              <a:t>Proprietor of two profitable British boarding schools, and builder of an agent network spanning Europe, Asia and Latin America. BEP exists to put that team and network to work for partner schools.</a:t>
            </a:r>
            <a:endParaRPr lang="en-US" sz="1450" dirty="0">
              <a:latin typeface="Grotesque" panose="020B0504020202020204" pitchFamily="34" charset="0"/>
            </a:endParaRPr>
          </a:p>
        </p:txBody>
      </p:sp>
      <p:sp>
        <p:nvSpPr>
          <p:cNvPr id="6" name="Text 3"/>
          <p:cNvSpPr/>
          <p:nvPr/>
        </p:nvSpPr>
        <p:spPr>
          <a:xfrm>
            <a:off x="640080" y="2577249"/>
            <a:ext cx="10881360" cy="777240"/>
          </a:xfrm>
          <a:prstGeom prst="rect">
            <a:avLst/>
          </a:prstGeom>
          <a:noFill/>
          <a:ln/>
        </p:spPr>
        <p:txBody>
          <a:bodyPr wrap="square" lIns="0" tIns="0" rIns="0" bIns="0" rtlCol="0" anchor="ctr"/>
          <a:lstStyle/>
          <a:p>
            <a:pPr marL="0" indent="0">
              <a:buNone/>
            </a:pPr>
            <a:r>
              <a:rPr lang="en-US" sz="1450" b="1" dirty="0">
                <a:solidFill>
                  <a:srgbClr val="1E392A"/>
                </a:solidFill>
                <a:latin typeface="Grotesque" panose="020B0504020202020204" pitchFamily="34" charset="0"/>
                <a:ea typeface="Calibri" pitchFamily="34" charset="-122"/>
                <a:cs typeface="Calibri" pitchFamily="34" charset="-120"/>
              </a:rPr>
              <a:t>John Perry, Head of Partnerships. </a:t>
            </a:r>
            <a:r>
              <a:rPr lang="en-US" sz="1450" dirty="0">
                <a:solidFill>
                  <a:srgbClr val="232323"/>
                </a:solidFill>
                <a:latin typeface="Grotesque" panose="020B0504020202020204" pitchFamily="34" charset="0"/>
                <a:ea typeface="Calibri" pitchFamily="34" charset="-122"/>
                <a:cs typeface="Calibri" pitchFamily="34" charset="-120"/>
              </a:rPr>
              <a:t>An experienced international pupil and agency recruiter, and your day-to-day point of contact through onboarding and beyond.</a:t>
            </a:r>
            <a:endParaRPr lang="en-US" sz="1450" dirty="0">
              <a:latin typeface="Grotesque" panose="020B0504020202020204" pitchFamily="34" charset="0"/>
            </a:endParaRPr>
          </a:p>
        </p:txBody>
      </p:sp>
      <p:sp>
        <p:nvSpPr>
          <p:cNvPr id="7" name="Shape 4"/>
          <p:cNvSpPr/>
          <p:nvPr/>
        </p:nvSpPr>
        <p:spPr>
          <a:xfrm>
            <a:off x="640080" y="4160520"/>
            <a:ext cx="3520440" cy="1783080"/>
          </a:xfrm>
          <a:prstGeom prst="roundRect">
            <a:avLst>
              <a:gd name="adj" fmla="val 4103"/>
            </a:avLst>
          </a:prstGeom>
          <a:solidFill>
            <a:srgbClr val="F1EDE3"/>
          </a:solidFill>
          <a:ln/>
        </p:spPr>
        <p:txBody>
          <a:bodyPr/>
          <a:lstStyle/>
          <a:p>
            <a:endParaRPr lang="en-GB"/>
          </a:p>
        </p:txBody>
      </p:sp>
      <p:sp>
        <p:nvSpPr>
          <p:cNvPr id="8" name="Text 5"/>
          <p:cNvSpPr/>
          <p:nvPr/>
        </p:nvSpPr>
        <p:spPr>
          <a:xfrm>
            <a:off x="914400" y="4343400"/>
            <a:ext cx="2971800" cy="731520"/>
          </a:xfrm>
          <a:prstGeom prst="rect">
            <a:avLst/>
          </a:prstGeom>
          <a:noFill/>
          <a:ln/>
        </p:spPr>
        <p:txBody>
          <a:bodyPr wrap="square" lIns="0" tIns="0" rIns="0" bIns="0" rtlCol="0" anchor="ctr"/>
          <a:lstStyle/>
          <a:p>
            <a:pPr marL="0" indent="0">
              <a:buNone/>
            </a:pPr>
            <a:r>
              <a:rPr lang="en-US" sz="3400" b="1" dirty="0">
                <a:solidFill>
                  <a:srgbClr val="B99A5B"/>
                </a:solidFill>
                <a:latin typeface="Cormorant Garamond" pitchFamily="2" charset="77"/>
                <a:ea typeface="Century Schoolbook" pitchFamily="34" charset="-122"/>
                <a:cs typeface="Century Schoolbook" pitchFamily="34" charset="-120"/>
              </a:rPr>
              <a:t>7</a:t>
            </a:r>
            <a:endParaRPr lang="en-US" sz="3400" dirty="0">
              <a:latin typeface="Cormorant Garamond" pitchFamily="2" charset="77"/>
            </a:endParaRPr>
          </a:p>
        </p:txBody>
      </p:sp>
      <p:sp>
        <p:nvSpPr>
          <p:cNvPr id="9" name="Text 6"/>
          <p:cNvSpPr/>
          <p:nvPr/>
        </p:nvSpPr>
        <p:spPr>
          <a:xfrm>
            <a:off x="914400" y="5074920"/>
            <a:ext cx="2971800" cy="731520"/>
          </a:xfrm>
          <a:prstGeom prst="rect">
            <a:avLst/>
          </a:prstGeom>
          <a:noFill/>
          <a:ln/>
        </p:spPr>
        <p:txBody>
          <a:bodyPr wrap="square" lIns="0" tIns="0" rIns="0" bIns="0" rtlCol="0" anchor="ctr"/>
          <a:lstStyle/>
          <a:p>
            <a:pPr marL="0" indent="0">
              <a:buNone/>
            </a:pPr>
            <a:r>
              <a:rPr lang="en-US" sz="1250" dirty="0">
                <a:solidFill>
                  <a:srgbClr val="232323"/>
                </a:solidFill>
                <a:latin typeface="Grotesque" panose="020B0504020202020204" pitchFamily="34" charset="0"/>
                <a:ea typeface="Calibri" pitchFamily="34" charset="-122"/>
                <a:cs typeface="Calibri" pitchFamily="34" charset="-120"/>
              </a:rPr>
              <a:t>Recruitment specialists, working remotely across strategic market</a:t>
            </a:r>
            <a:endParaRPr lang="en-US" sz="1250" dirty="0">
              <a:latin typeface="Grotesque" panose="020B0504020202020204" pitchFamily="34" charset="0"/>
            </a:endParaRPr>
          </a:p>
        </p:txBody>
      </p:sp>
      <p:sp>
        <p:nvSpPr>
          <p:cNvPr id="10" name="Shape 7"/>
          <p:cNvSpPr/>
          <p:nvPr/>
        </p:nvSpPr>
        <p:spPr>
          <a:xfrm>
            <a:off x="4370832" y="4160520"/>
            <a:ext cx="3520440" cy="1783080"/>
          </a:xfrm>
          <a:prstGeom prst="roundRect">
            <a:avLst>
              <a:gd name="adj" fmla="val 4103"/>
            </a:avLst>
          </a:prstGeom>
          <a:solidFill>
            <a:srgbClr val="F1EDE3"/>
          </a:solidFill>
          <a:ln/>
        </p:spPr>
        <p:txBody>
          <a:bodyPr/>
          <a:lstStyle/>
          <a:p>
            <a:endParaRPr lang="en-GB"/>
          </a:p>
        </p:txBody>
      </p:sp>
      <p:sp>
        <p:nvSpPr>
          <p:cNvPr id="11" name="Text 8"/>
          <p:cNvSpPr/>
          <p:nvPr/>
        </p:nvSpPr>
        <p:spPr>
          <a:xfrm>
            <a:off x="4645152" y="4343400"/>
            <a:ext cx="2971800" cy="731520"/>
          </a:xfrm>
          <a:prstGeom prst="rect">
            <a:avLst/>
          </a:prstGeom>
          <a:noFill/>
          <a:ln/>
        </p:spPr>
        <p:txBody>
          <a:bodyPr wrap="square" lIns="0" tIns="0" rIns="0" bIns="0" rtlCol="0" anchor="ctr"/>
          <a:lstStyle/>
          <a:p>
            <a:pPr marL="0" indent="0">
              <a:buNone/>
            </a:pPr>
            <a:r>
              <a:rPr lang="en-US" sz="3400" b="1" dirty="0">
                <a:solidFill>
                  <a:srgbClr val="B99A5B"/>
                </a:solidFill>
                <a:latin typeface="Cormorant Garamond" pitchFamily="2" charset="77"/>
                <a:ea typeface="Century Schoolbook" pitchFamily="34" charset="-122"/>
                <a:cs typeface="Century Schoolbook" pitchFamily="34" charset="-120"/>
              </a:rPr>
              <a:t>700+</a:t>
            </a:r>
            <a:endParaRPr lang="en-US" sz="3400" dirty="0">
              <a:latin typeface="Cormorant Garamond" pitchFamily="2" charset="77"/>
            </a:endParaRPr>
          </a:p>
        </p:txBody>
      </p:sp>
      <p:sp>
        <p:nvSpPr>
          <p:cNvPr id="12" name="Text 9"/>
          <p:cNvSpPr/>
          <p:nvPr/>
        </p:nvSpPr>
        <p:spPr>
          <a:xfrm>
            <a:off x="4645152" y="5074920"/>
            <a:ext cx="2971800" cy="731520"/>
          </a:xfrm>
          <a:prstGeom prst="rect">
            <a:avLst/>
          </a:prstGeom>
          <a:noFill/>
          <a:ln/>
        </p:spPr>
        <p:txBody>
          <a:bodyPr wrap="square" lIns="0" tIns="0" rIns="0" bIns="0" rtlCol="0" anchor="ctr"/>
          <a:lstStyle/>
          <a:p>
            <a:pPr marL="0" indent="0">
              <a:buNone/>
            </a:pPr>
            <a:r>
              <a:rPr lang="en-US" sz="1250" dirty="0">
                <a:solidFill>
                  <a:srgbClr val="232323"/>
                </a:solidFill>
                <a:latin typeface="Grotesque" panose="020B0504020202020204" pitchFamily="34" charset="0"/>
                <a:ea typeface="Calibri" pitchFamily="34" charset="-122"/>
                <a:cs typeface="Calibri" pitchFamily="34" charset="-120"/>
              </a:rPr>
              <a:t>vetted agents in the managed network</a:t>
            </a:r>
            <a:endParaRPr lang="en-US" sz="1250" dirty="0">
              <a:latin typeface="Grotesque" panose="020B0504020202020204" pitchFamily="34" charset="0"/>
            </a:endParaRPr>
          </a:p>
        </p:txBody>
      </p:sp>
      <p:sp>
        <p:nvSpPr>
          <p:cNvPr id="13" name="Shape 10"/>
          <p:cNvSpPr/>
          <p:nvPr/>
        </p:nvSpPr>
        <p:spPr>
          <a:xfrm>
            <a:off x="8101584" y="4160520"/>
            <a:ext cx="3520440" cy="1783080"/>
          </a:xfrm>
          <a:prstGeom prst="roundRect">
            <a:avLst>
              <a:gd name="adj" fmla="val 4103"/>
            </a:avLst>
          </a:prstGeom>
          <a:solidFill>
            <a:srgbClr val="F1EDE3"/>
          </a:solidFill>
          <a:ln/>
        </p:spPr>
        <p:txBody>
          <a:bodyPr/>
          <a:lstStyle/>
          <a:p>
            <a:endParaRPr lang="en-GB"/>
          </a:p>
        </p:txBody>
      </p:sp>
      <p:sp>
        <p:nvSpPr>
          <p:cNvPr id="14" name="Text 11"/>
          <p:cNvSpPr/>
          <p:nvPr/>
        </p:nvSpPr>
        <p:spPr>
          <a:xfrm>
            <a:off x="8375904" y="4343400"/>
            <a:ext cx="2971800" cy="731520"/>
          </a:xfrm>
          <a:prstGeom prst="rect">
            <a:avLst/>
          </a:prstGeom>
          <a:noFill/>
          <a:ln/>
        </p:spPr>
        <p:txBody>
          <a:bodyPr wrap="square" lIns="0" tIns="0" rIns="0" bIns="0" rtlCol="0" anchor="ctr"/>
          <a:lstStyle/>
          <a:p>
            <a:pPr marL="0" indent="0">
              <a:buNone/>
            </a:pPr>
            <a:r>
              <a:rPr lang="en-US" sz="3400" b="1" dirty="0">
                <a:solidFill>
                  <a:srgbClr val="B99A5B"/>
                </a:solidFill>
                <a:latin typeface="Cormorant Garamond" pitchFamily="2" charset="77"/>
                <a:ea typeface="Century Schoolbook" pitchFamily="34" charset="-122"/>
                <a:cs typeface="Century Schoolbook" pitchFamily="34" charset="-120"/>
              </a:rPr>
              <a:t>10+</a:t>
            </a:r>
            <a:endParaRPr lang="en-US" sz="3400" dirty="0">
              <a:latin typeface="Cormorant Garamond" pitchFamily="2" charset="77"/>
            </a:endParaRPr>
          </a:p>
        </p:txBody>
      </p:sp>
      <p:sp>
        <p:nvSpPr>
          <p:cNvPr id="15" name="Text 12"/>
          <p:cNvSpPr/>
          <p:nvPr/>
        </p:nvSpPr>
        <p:spPr>
          <a:xfrm>
            <a:off x="8375904" y="5074920"/>
            <a:ext cx="2971800" cy="731520"/>
          </a:xfrm>
          <a:prstGeom prst="rect">
            <a:avLst/>
          </a:prstGeom>
          <a:noFill/>
          <a:ln/>
        </p:spPr>
        <p:txBody>
          <a:bodyPr wrap="square" lIns="0" tIns="0" rIns="0" bIns="0" rtlCol="0" anchor="ctr"/>
          <a:lstStyle/>
          <a:p>
            <a:pPr marL="0" indent="0">
              <a:buNone/>
            </a:pPr>
            <a:r>
              <a:rPr lang="en-US" sz="1250" dirty="0">
                <a:solidFill>
                  <a:srgbClr val="232323"/>
                </a:solidFill>
                <a:latin typeface="Grotesque" panose="020B0504020202020204" pitchFamily="34" charset="0"/>
                <a:ea typeface="Calibri" pitchFamily="34" charset="-122"/>
                <a:cs typeface="Calibri" pitchFamily="34" charset="-120"/>
              </a:rPr>
              <a:t>years managing international enrolment </a:t>
            </a:r>
            <a:endParaRPr lang="en-US" sz="1250" dirty="0">
              <a:latin typeface="Grotesque" panose="020B05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icons/Gold Transparent.png"/>
          <p:cNvPicPr>
            <a:picLocks noChangeAspect="1"/>
          </p:cNvPicPr>
          <p:nvPr/>
        </p:nvPicPr>
        <p:blipFill>
          <a:blip r:embed="rId3"/>
          <a:stretch>
            <a:fillRect/>
          </a:stretch>
        </p:blipFill>
        <p:spPr>
          <a:xfrm>
            <a:off x="11228832" y="411480"/>
            <a:ext cx="502920" cy="502920"/>
          </a:xfrm>
          <a:prstGeom prst="rect">
            <a:avLst/>
          </a:prstGeom>
        </p:spPr>
      </p:pic>
      <p:sp>
        <p:nvSpPr>
          <p:cNvPr id="3" name="Text 0"/>
          <p:cNvSpPr/>
          <p:nvPr/>
        </p:nvSpPr>
        <p:spPr>
          <a:xfrm>
            <a:off x="640080" y="384048"/>
            <a:ext cx="8686800" cy="320040"/>
          </a:xfrm>
          <a:prstGeom prst="rect">
            <a:avLst/>
          </a:prstGeom>
          <a:noFill/>
          <a:ln/>
        </p:spPr>
        <p:txBody>
          <a:bodyPr wrap="square" lIns="0" tIns="0" rIns="0" bIns="0" rtlCol="0" anchor="ctr"/>
          <a:lstStyle/>
          <a:p>
            <a:pPr marL="0" indent="0">
              <a:buNone/>
            </a:pPr>
            <a:r>
              <a:rPr lang="en-US" sz="1200" b="1" kern="0" spc="300" dirty="0">
                <a:solidFill>
                  <a:srgbClr val="B99A5B"/>
                </a:solidFill>
                <a:latin typeface="Grotesque" panose="020B0504020202020204" pitchFamily="34" charset="0"/>
                <a:ea typeface="Calibri" pitchFamily="34" charset="-122"/>
                <a:cs typeface="Calibri" pitchFamily="34" charset="-120"/>
              </a:rPr>
              <a:t>THE PROBLEM</a:t>
            </a:r>
            <a:endParaRPr lang="en-US" sz="1200" dirty="0">
              <a:latin typeface="Grotesque" panose="020B0504020202020204" pitchFamily="34" charset="0"/>
            </a:endParaRPr>
          </a:p>
        </p:txBody>
      </p:sp>
      <p:sp>
        <p:nvSpPr>
          <p:cNvPr id="4" name="Text 1"/>
          <p:cNvSpPr/>
          <p:nvPr/>
        </p:nvSpPr>
        <p:spPr>
          <a:xfrm>
            <a:off x="640080" y="658368"/>
            <a:ext cx="10424160" cy="868680"/>
          </a:xfrm>
          <a:prstGeom prst="rect">
            <a:avLst/>
          </a:prstGeom>
          <a:noFill/>
          <a:ln/>
        </p:spPr>
        <p:txBody>
          <a:bodyPr wrap="square" lIns="0" tIns="0" rIns="0" bIns="0" rtlCol="0" anchor="ctr"/>
          <a:lstStyle/>
          <a:p>
            <a:pPr marL="0" indent="0">
              <a:buNone/>
            </a:pPr>
            <a:r>
              <a:rPr lang="en-US" sz="3600" b="1" dirty="0">
                <a:solidFill>
                  <a:srgbClr val="16331E"/>
                </a:solidFill>
                <a:latin typeface="Cormorant Garamond" pitchFamily="2" charset="77"/>
                <a:ea typeface="Century Schoolbook" pitchFamily="34" charset="-122"/>
                <a:cs typeface="Century Schoolbook" pitchFamily="34" charset="-120"/>
              </a:rPr>
              <a:t>The market is contracting, and concentrated</a:t>
            </a:r>
            <a:endParaRPr lang="en-US" sz="3600" dirty="0">
              <a:solidFill>
                <a:srgbClr val="16331E"/>
              </a:solidFill>
              <a:latin typeface="Cormorant Garamond" pitchFamily="2" charset="77"/>
            </a:endParaRPr>
          </a:p>
        </p:txBody>
      </p:sp>
      <p:graphicFrame>
        <p:nvGraphicFramePr>
          <p:cNvPr id="5" name="Chart 0"/>
          <p:cNvGraphicFramePr/>
          <p:nvPr/>
        </p:nvGraphicFramePr>
        <p:xfrm>
          <a:off x="640080" y="1783080"/>
          <a:ext cx="6492240" cy="402336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p:nvPr/>
        </p:nvSpPr>
        <p:spPr>
          <a:xfrm>
            <a:off x="640080" y="5897880"/>
            <a:ext cx="6400800" cy="274320"/>
          </a:xfrm>
          <a:prstGeom prst="rect">
            <a:avLst/>
          </a:prstGeom>
          <a:noFill/>
          <a:ln/>
        </p:spPr>
        <p:txBody>
          <a:bodyPr wrap="square" lIns="0" tIns="0" rIns="0" bIns="0" rtlCol="0" anchor="ctr"/>
          <a:lstStyle/>
          <a:p>
            <a:pPr marL="0" indent="0">
              <a:buNone/>
            </a:pPr>
            <a:r>
              <a:rPr lang="en-US" sz="1050" i="1" dirty="0">
                <a:solidFill>
                  <a:srgbClr val="6A6A6A"/>
                </a:solidFill>
                <a:latin typeface="Grotesque" panose="020B0504020202020204" pitchFamily="34" charset="0"/>
                <a:ea typeface="Calibri" pitchFamily="34" charset="-122"/>
                <a:cs typeface="Calibri" pitchFamily="34" charset="-120"/>
              </a:rPr>
              <a:t>Child student visa applications, top markets</a:t>
            </a:r>
            <a:endParaRPr lang="en-US" sz="1050" dirty="0">
              <a:latin typeface="Grotesque" panose="020B0504020202020204" pitchFamily="34" charset="0"/>
            </a:endParaRPr>
          </a:p>
        </p:txBody>
      </p:sp>
      <p:sp>
        <p:nvSpPr>
          <p:cNvPr id="7" name="Text 3"/>
          <p:cNvSpPr/>
          <p:nvPr/>
        </p:nvSpPr>
        <p:spPr>
          <a:xfrm>
            <a:off x="640080" y="6144768"/>
            <a:ext cx="6400800" cy="274320"/>
          </a:xfrm>
          <a:prstGeom prst="rect">
            <a:avLst/>
          </a:prstGeom>
          <a:noFill/>
          <a:ln/>
        </p:spPr>
        <p:txBody>
          <a:bodyPr wrap="square" lIns="0" tIns="0" rIns="0" bIns="0" rtlCol="0" anchor="ctr"/>
          <a:lstStyle/>
          <a:p>
            <a:pPr marL="0" indent="0">
              <a:buNone/>
            </a:pPr>
            <a:r>
              <a:rPr lang="en-US" sz="950" dirty="0">
                <a:solidFill>
                  <a:srgbClr val="6A6A6A"/>
                </a:solidFill>
                <a:latin typeface="Grotesque" panose="020B0504020202020204" pitchFamily="34" charset="0"/>
                <a:ea typeface="Calibri" pitchFamily="34" charset="-122"/>
                <a:cs typeface="Calibri" pitchFamily="34" charset="-120"/>
              </a:rPr>
              <a:t>Source: BSA conference data (D. Walker), Q3 2024 v Q3 2025</a:t>
            </a:r>
            <a:endParaRPr lang="en-US" sz="950" dirty="0">
              <a:latin typeface="Grotesque" panose="020B0504020202020204" pitchFamily="34" charset="0"/>
            </a:endParaRPr>
          </a:p>
        </p:txBody>
      </p:sp>
      <p:sp>
        <p:nvSpPr>
          <p:cNvPr id="8" name="Text 4"/>
          <p:cNvSpPr/>
          <p:nvPr/>
        </p:nvSpPr>
        <p:spPr>
          <a:xfrm>
            <a:off x="7589520" y="1783080"/>
            <a:ext cx="3931920" cy="685800"/>
          </a:xfrm>
          <a:prstGeom prst="rect">
            <a:avLst/>
          </a:prstGeom>
          <a:noFill/>
          <a:ln/>
        </p:spPr>
        <p:txBody>
          <a:bodyPr wrap="square" lIns="0" tIns="0" rIns="0" bIns="0" rtlCol="0" anchor="ctr"/>
          <a:lstStyle/>
          <a:p>
            <a:pPr marL="0" indent="0">
              <a:buNone/>
            </a:pPr>
            <a:r>
              <a:rPr lang="en-US" sz="3400" b="1" dirty="0">
                <a:solidFill>
                  <a:srgbClr val="B99A5B"/>
                </a:solidFill>
                <a:latin typeface="Cormorant Garamond" pitchFamily="2" charset="77"/>
                <a:ea typeface="Century Schoolbook" pitchFamily="34" charset="-122"/>
                <a:cs typeface="Century Schoolbook" pitchFamily="34" charset="-120"/>
              </a:rPr>
              <a:t>-21%</a:t>
            </a:r>
            <a:endParaRPr lang="en-US" sz="3400" dirty="0">
              <a:latin typeface="Cormorant Garamond" pitchFamily="2" charset="77"/>
            </a:endParaRPr>
          </a:p>
        </p:txBody>
      </p:sp>
      <p:sp>
        <p:nvSpPr>
          <p:cNvPr id="9" name="Text 5"/>
          <p:cNvSpPr/>
          <p:nvPr/>
        </p:nvSpPr>
        <p:spPr>
          <a:xfrm>
            <a:off x="7589520" y="2441448"/>
            <a:ext cx="3931920" cy="685800"/>
          </a:xfrm>
          <a:prstGeom prst="rect">
            <a:avLst/>
          </a:prstGeom>
          <a:noFill/>
          <a:ln/>
        </p:spPr>
        <p:txBody>
          <a:bodyPr wrap="square" lIns="0" tIns="0" rIns="0" bIns="0" rtlCol="0" anchor="ctr"/>
          <a:lstStyle/>
          <a:p>
            <a:pPr marL="0" indent="0">
              <a:buNone/>
            </a:pPr>
            <a:r>
              <a:rPr lang="en-US" sz="1300" dirty="0">
                <a:solidFill>
                  <a:srgbClr val="232323"/>
                </a:solidFill>
                <a:latin typeface="Grotesque" panose="020B0504020202020204" pitchFamily="34" charset="0"/>
                <a:ea typeface="Calibri" pitchFamily="34" charset="-122"/>
                <a:cs typeface="Calibri" pitchFamily="34" charset="-120"/>
              </a:rPr>
              <a:t>applications year on year across the top 20 markets</a:t>
            </a:r>
            <a:endParaRPr lang="en-US" sz="1300" dirty="0">
              <a:latin typeface="Grotesque" panose="020B0504020202020204" pitchFamily="34" charset="0"/>
            </a:endParaRPr>
          </a:p>
        </p:txBody>
      </p:sp>
      <p:sp>
        <p:nvSpPr>
          <p:cNvPr id="10" name="Text 6"/>
          <p:cNvSpPr/>
          <p:nvPr/>
        </p:nvSpPr>
        <p:spPr>
          <a:xfrm>
            <a:off x="7589520" y="3200400"/>
            <a:ext cx="3931920" cy="685800"/>
          </a:xfrm>
          <a:prstGeom prst="rect">
            <a:avLst/>
          </a:prstGeom>
          <a:noFill/>
          <a:ln/>
        </p:spPr>
        <p:txBody>
          <a:bodyPr wrap="square" lIns="0" tIns="0" rIns="0" bIns="0" rtlCol="0" anchor="ctr"/>
          <a:lstStyle/>
          <a:p>
            <a:pPr marL="0" indent="0">
              <a:buNone/>
            </a:pPr>
            <a:r>
              <a:rPr lang="en-US" sz="3400" b="1" dirty="0">
                <a:solidFill>
                  <a:srgbClr val="B99A5B"/>
                </a:solidFill>
                <a:latin typeface="Cormorant Garamond" pitchFamily="2" charset="77"/>
                <a:ea typeface="Century Schoolbook" pitchFamily="34" charset="-122"/>
                <a:cs typeface="Century Schoolbook" pitchFamily="34" charset="-120"/>
              </a:rPr>
              <a:t>2 markets</a:t>
            </a:r>
            <a:endParaRPr lang="en-US" sz="3400" dirty="0">
              <a:latin typeface="Cormorant Garamond" pitchFamily="2" charset="77"/>
            </a:endParaRPr>
          </a:p>
        </p:txBody>
      </p:sp>
      <p:sp>
        <p:nvSpPr>
          <p:cNvPr id="11" name="Text 7"/>
          <p:cNvSpPr/>
          <p:nvPr/>
        </p:nvSpPr>
        <p:spPr>
          <a:xfrm>
            <a:off x="7589520" y="3858768"/>
            <a:ext cx="3931920" cy="685800"/>
          </a:xfrm>
          <a:prstGeom prst="rect">
            <a:avLst/>
          </a:prstGeom>
          <a:noFill/>
          <a:ln/>
        </p:spPr>
        <p:txBody>
          <a:bodyPr wrap="square" lIns="0" tIns="0" rIns="0" bIns="0" rtlCol="0" anchor="ctr"/>
          <a:lstStyle/>
          <a:p>
            <a:pPr marL="0" indent="0">
              <a:buNone/>
            </a:pPr>
            <a:r>
              <a:rPr lang="en-US" sz="1300" dirty="0">
                <a:solidFill>
                  <a:srgbClr val="232323"/>
                </a:solidFill>
                <a:latin typeface="Grotesque" panose="020B0504020202020204" pitchFamily="34" charset="0"/>
                <a:ea typeface="Calibri" pitchFamily="34" charset="-122"/>
                <a:cs typeface="Calibri" pitchFamily="34" charset="-120"/>
              </a:rPr>
              <a:t>China and Hong Kong account for almost two-thirds of the entire fall</a:t>
            </a:r>
            <a:endParaRPr lang="en-US" sz="1300" dirty="0">
              <a:latin typeface="Grotesque" panose="020B0504020202020204" pitchFamily="34" charset="0"/>
            </a:endParaRPr>
          </a:p>
        </p:txBody>
      </p:sp>
      <p:sp>
        <p:nvSpPr>
          <p:cNvPr id="12" name="Text 8"/>
          <p:cNvSpPr/>
          <p:nvPr/>
        </p:nvSpPr>
        <p:spPr>
          <a:xfrm>
            <a:off x="7589520" y="4617720"/>
            <a:ext cx="3931920" cy="685800"/>
          </a:xfrm>
          <a:prstGeom prst="rect">
            <a:avLst/>
          </a:prstGeom>
          <a:noFill/>
          <a:ln/>
        </p:spPr>
        <p:txBody>
          <a:bodyPr wrap="square" lIns="0" tIns="0" rIns="0" bIns="0" rtlCol="0" anchor="ctr"/>
          <a:lstStyle/>
          <a:p>
            <a:pPr marL="0" indent="0">
              <a:buNone/>
            </a:pPr>
            <a:r>
              <a:rPr lang="en-US" sz="3400" b="1" dirty="0">
                <a:solidFill>
                  <a:srgbClr val="B99A5B"/>
                </a:solidFill>
                <a:latin typeface="Cormorant Garamond" pitchFamily="2" charset="77"/>
                <a:ea typeface="Century Schoolbook" pitchFamily="34" charset="-122"/>
                <a:cs typeface="Century Schoolbook" pitchFamily="34" charset="-120"/>
              </a:rPr>
              <a:t>3 growing</a:t>
            </a:r>
            <a:endParaRPr lang="en-US" sz="3400" dirty="0">
              <a:latin typeface="Cormorant Garamond" pitchFamily="2" charset="77"/>
            </a:endParaRPr>
          </a:p>
        </p:txBody>
      </p:sp>
      <p:sp>
        <p:nvSpPr>
          <p:cNvPr id="13" name="Text 9"/>
          <p:cNvSpPr/>
          <p:nvPr/>
        </p:nvSpPr>
        <p:spPr>
          <a:xfrm>
            <a:off x="7589520" y="5276088"/>
            <a:ext cx="3931920" cy="685800"/>
          </a:xfrm>
          <a:prstGeom prst="rect">
            <a:avLst/>
          </a:prstGeom>
          <a:noFill/>
          <a:ln/>
        </p:spPr>
        <p:txBody>
          <a:bodyPr wrap="square" lIns="0" tIns="0" rIns="0" bIns="0" rtlCol="0" anchor="ctr"/>
          <a:lstStyle/>
          <a:p>
            <a:pPr marL="0" indent="0">
              <a:buNone/>
            </a:pPr>
            <a:r>
              <a:rPr lang="en-US" sz="1300" dirty="0">
                <a:solidFill>
                  <a:srgbClr val="232323"/>
                </a:solidFill>
                <a:latin typeface="Grotesque" panose="020B0504020202020204" pitchFamily="34" charset="0"/>
                <a:ea typeface="Calibri" pitchFamily="34" charset="-122"/>
                <a:cs typeface="Calibri" pitchFamily="34" charset="-120"/>
              </a:rPr>
              <a:t>Turkey, Thailand and Japan are the only meaningful growth stories</a:t>
            </a:r>
            <a:endParaRPr lang="en-US" sz="1300" dirty="0">
              <a:latin typeface="Grotesque" panose="020B05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6331E"/>
        </a:solidFill>
        <a:effectLst/>
      </p:bgPr>
    </p:bg>
    <p:spTree>
      <p:nvGrpSpPr>
        <p:cNvPr id="1" name=""/>
        <p:cNvGrpSpPr/>
        <p:nvPr/>
      </p:nvGrpSpPr>
      <p:grpSpPr>
        <a:xfrm>
          <a:off x="0" y="0"/>
          <a:ext cx="0" cy="0"/>
          <a:chOff x="0" y="0"/>
          <a:chExt cx="0" cy="0"/>
        </a:xfrm>
      </p:grpSpPr>
      <p:pic>
        <p:nvPicPr>
          <p:cNvPr id="2" name="Image 0" descr="icons/Cream Transparent.png"/>
          <p:cNvPicPr>
            <a:picLocks noChangeAspect="1"/>
          </p:cNvPicPr>
          <p:nvPr/>
        </p:nvPicPr>
        <p:blipFill>
          <a:blip r:embed="rId3">
            <a:alphaModFix amt="12000"/>
          </a:blip>
          <a:stretch>
            <a:fillRect/>
          </a:stretch>
        </p:blipFill>
        <p:spPr>
          <a:xfrm>
            <a:off x="10177272" y="4846320"/>
            <a:ext cx="3108960" cy="3108960"/>
          </a:xfrm>
          <a:prstGeom prst="rect">
            <a:avLst/>
          </a:prstGeom>
        </p:spPr>
      </p:pic>
      <p:sp>
        <p:nvSpPr>
          <p:cNvPr id="3" name="Text 0"/>
          <p:cNvSpPr/>
          <p:nvPr/>
        </p:nvSpPr>
        <p:spPr>
          <a:xfrm>
            <a:off x="640080" y="502920"/>
            <a:ext cx="8229600" cy="320040"/>
          </a:xfrm>
          <a:prstGeom prst="rect">
            <a:avLst/>
          </a:prstGeom>
          <a:noFill/>
          <a:ln/>
        </p:spPr>
        <p:txBody>
          <a:bodyPr wrap="square" lIns="0" tIns="0" rIns="0" bIns="0" rtlCol="0" anchor="ctr"/>
          <a:lstStyle/>
          <a:p>
            <a:pPr marL="0" indent="0">
              <a:buNone/>
            </a:pPr>
            <a:r>
              <a:rPr lang="en-US" sz="1200" b="1" kern="0" spc="300" dirty="0">
                <a:solidFill>
                  <a:srgbClr val="B99A5B"/>
                </a:solidFill>
                <a:latin typeface="Grotesque" panose="020B0504020202020204" pitchFamily="34" charset="0"/>
                <a:ea typeface="Calibri" pitchFamily="34" charset="-122"/>
                <a:cs typeface="Calibri" pitchFamily="34" charset="-120"/>
              </a:rPr>
              <a:t>THE SOLUTION</a:t>
            </a:r>
            <a:endParaRPr lang="en-US" sz="1200" dirty="0">
              <a:latin typeface="Grotesque" panose="020B0504020202020204" pitchFamily="34" charset="0"/>
            </a:endParaRPr>
          </a:p>
        </p:txBody>
      </p:sp>
      <p:sp>
        <p:nvSpPr>
          <p:cNvPr id="4" name="Text 1"/>
          <p:cNvSpPr/>
          <p:nvPr/>
        </p:nvSpPr>
        <p:spPr>
          <a:xfrm>
            <a:off x="640080" y="914400"/>
            <a:ext cx="10881360" cy="868680"/>
          </a:xfrm>
          <a:prstGeom prst="rect">
            <a:avLst/>
          </a:prstGeom>
          <a:noFill/>
          <a:ln/>
        </p:spPr>
        <p:txBody>
          <a:bodyPr wrap="square" lIns="0" tIns="0" rIns="0" bIns="0" rtlCol="0" anchor="ctr"/>
          <a:lstStyle/>
          <a:p>
            <a:pPr marL="0" indent="0">
              <a:buNone/>
            </a:pPr>
            <a:r>
              <a:rPr lang="en-US" sz="3600" b="1" i="1" dirty="0">
                <a:solidFill>
                  <a:srgbClr val="FFFFFF"/>
                </a:solidFill>
                <a:latin typeface="Cormorant Garamond" pitchFamily="2" charset="77"/>
                <a:ea typeface="Century Schoolbook" pitchFamily="34" charset="-122"/>
                <a:cs typeface="Century Schoolbook" pitchFamily="34" charset="-120"/>
              </a:rPr>
              <a:t>Enrolment</a:t>
            </a:r>
            <a:r>
              <a:rPr lang="en-US" sz="3600" b="1" dirty="0">
                <a:solidFill>
                  <a:srgbClr val="FFFFFF"/>
                </a:solidFill>
                <a:latin typeface="Cormorant Garamond" pitchFamily="2" charset="77"/>
                <a:ea typeface="Century Schoolbook" pitchFamily="34" charset="-122"/>
                <a:cs typeface="Century Schoolbook" pitchFamily="34" charset="-120"/>
              </a:rPr>
              <a:t>, not admissions</a:t>
            </a:r>
            <a:endParaRPr lang="en-US" sz="3600" dirty="0">
              <a:latin typeface="Cormorant Garamond" pitchFamily="2" charset="77"/>
            </a:endParaRPr>
          </a:p>
        </p:txBody>
      </p:sp>
      <p:sp>
        <p:nvSpPr>
          <p:cNvPr id="5" name="Text 2"/>
          <p:cNvSpPr/>
          <p:nvPr/>
        </p:nvSpPr>
        <p:spPr>
          <a:xfrm>
            <a:off x="640080" y="1965960"/>
            <a:ext cx="6766560" cy="1463040"/>
          </a:xfrm>
          <a:prstGeom prst="rect">
            <a:avLst/>
          </a:prstGeom>
          <a:noFill/>
          <a:ln/>
        </p:spPr>
        <p:txBody>
          <a:bodyPr wrap="square" lIns="0" tIns="0" rIns="0" bIns="0" rtlCol="0" anchor="ctr"/>
          <a:lstStyle/>
          <a:p>
            <a:pPr marL="0" indent="0">
              <a:buNone/>
            </a:pPr>
            <a:r>
              <a:rPr lang="en-US" sz="1600" dirty="0">
                <a:solidFill>
                  <a:srgbClr val="F1EDE3"/>
                </a:solidFill>
                <a:latin typeface="Grotesque" panose="020B0504020202020204" pitchFamily="34" charset="0"/>
                <a:ea typeface="Calibri" pitchFamily="34" charset="-122"/>
                <a:cs typeface="Calibri" pitchFamily="34" charset="-120"/>
              </a:rPr>
              <a:t>“Admissions” belongs to an era when families came to you. The commercial reality is enrolment: a function a school has to actively drive, in the most competitive international market the sector has seen.</a:t>
            </a:r>
            <a:endParaRPr lang="en-US" sz="1600" dirty="0">
              <a:latin typeface="Grotesque" panose="020B0504020202020204" pitchFamily="34" charset="0"/>
            </a:endParaRPr>
          </a:p>
        </p:txBody>
      </p:sp>
      <p:pic>
        <p:nvPicPr>
          <p:cNvPr id="6" name="Image 1" descr="icons/Gold Transparent.png"/>
          <p:cNvPicPr>
            <a:picLocks noChangeAspect="1"/>
          </p:cNvPicPr>
          <p:nvPr/>
        </p:nvPicPr>
        <p:blipFill>
          <a:blip r:embed="rId4"/>
          <a:stretch>
            <a:fillRect/>
          </a:stretch>
        </p:blipFill>
        <p:spPr>
          <a:xfrm>
            <a:off x="640080" y="3749040"/>
            <a:ext cx="384048" cy="384048"/>
          </a:xfrm>
          <a:prstGeom prst="rect">
            <a:avLst/>
          </a:prstGeom>
        </p:spPr>
      </p:pic>
      <p:sp>
        <p:nvSpPr>
          <p:cNvPr id="7" name="Text 3"/>
          <p:cNvSpPr/>
          <p:nvPr/>
        </p:nvSpPr>
        <p:spPr>
          <a:xfrm>
            <a:off x="1234440" y="3566160"/>
            <a:ext cx="3108960" cy="822960"/>
          </a:xfrm>
          <a:prstGeom prst="rect">
            <a:avLst/>
          </a:prstGeom>
          <a:noFill/>
          <a:ln/>
        </p:spPr>
        <p:txBody>
          <a:bodyPr wrap="square" lIns="0" tIns="0" rIns="0" bIns="0" rtlCol="0" anchor="ctr"/>
          <a:lstStyle/>
          <a:p>
            <a:pPr marL="0" indent="0">
              <a:buNone/>
            </a:pPr>
            <a:r>
              <a:rPr lang="en-US" sz="2400" b="1" dirty="0">
                <a:solidFill>
                  <a:srgbClr val="B99A5B"/>
                </a:solidFill>
                <a:latin typeface="Cormorant Garamond" pitchFamily="2" charset="77"/>
                <a:ea typeface="Century Schoolbook" pitchFamily="34" charset="-122"/>
                <a:cs typeface="Century Schoolbook" pitchFamily="34" charset="-120"/>
              </a:rPr>
              <a:t>One integrated function</a:t>
            </a:r>
            <a:endParaRPr lang="en-US" sz="2400" dirty="0">
              <a:latin typeface="Cormorant Garamond" pitchFamily="2" charset="77"/>
            </a:endParaRPr>
          </a:p>
        </p:txBody>
      </p:sp>
      <p:sp>
        <p:nvSpPr>
          <p:cNvPr id="8" name="Text 4"/>
          <p:cNvSpPr/>
          <p:nvPr/>
        </p:nvSpPr>
        <p:spPr>
          <a:xfrm>
            <a:off x="4480560" y="3566160"/>
            <a:ext cx="6949440" cy="868680"/>
          </a:xfrm>
          <a:prstGeom prst="rect">
            <a:avLst/>
          </a:prstGeom>
          <a:noFill/>
          <a:ln/>
        </p:spPr>
        <p:txBody>
          <a:bodyPr wrap="square" lIns="0" tIns="0" rIns="0" bIns="0" rtlCol="0" anchor="ctr"/>
          <a:lstStyle/>
          <a:p>
            <a:pPr marL="0" indent="0">
              <a:buNone/>
            </a:pPr>
            <a:r>
              <a:rPr lang="en-US" sz="1300" dirty="0">
                <a:solidFill>
                  <a:srgbClr val="F1EDE3"/>
                </a:solidFill>
                <a:latin typeface="Grotesque" panose="020B0504020202020204" pitchFamily="34" charset="0"/>
                <a:ea typeface="Calibri" pitchFamily="34" charset="-122"/>
                <a:cs typeface="Calibri" pitchFamily="34" charset="-120"/>
              </a:rPr>
              <a:t>Markets, agents, applications and in-territory work run as one coordinated operation, not a scatter of relationships.</a:t>
            </a:r>
            <a:endParaRPr lang="en-US" sz="1300" dirty="0">
              <a:latin typeface="Grotesque" panose="020B0504020202020204" pitchFamily="34" charset="0"/>
            </a:endParaRPr>
          </a:p>
        </p:txBody>
      </p:sp>
      <p:pic>
        <p:nvPicPr>
          <p:cNvPr id="9" name="Image 2" descr="icons/Gold Transparent.png"/>
          <p:cNvPicPr>
            <a:picLocks noChangeAspect="1"/>
          </p:cNvPicPr>
          <p:nvPr/>
        </p:nvPicPr>
        <p:blipFill>
          <a:blip r:embed="rId4"/>
          <a:stretch>
            <a:fillRect/>
          </a:stretch>
        </p:blipFill>
        <p:spPr>
          <a:xfrm>
            <a:off x="640080" y="4736592"/>
            <a:ext cx="384048" cy="384048"/>
          </a:xfrm>
          <a:prstGeom prst="rect">
            <a:avLst/>
          </a:prstGeom>
        </p:spPr>
      </p:pic>
      <p:sp>
        <p:nvSpPr>
          <p:cNvPr id="10" name="Text 5"/>
          <p:cNvSpPr/>
          <p:nvPr/>
        </p:nvSpPr>
        <p:spPr>
          <a:xfrm>
            <a:off x="1234440" y="4553712"/>
            <a:ext cx="3108960" cy="822960"/>
          </a:xfrm>
          <a:prstGeom prst="rect">
            <a:avLst/>
          </a:prstGeom>
          <a:noFill/>
          <a:ln/>
        </p:spPr>
        <p:txBody>
          <a:bodyPr wrap="square" lIns="0" tIns="0" rIns="0" bIns="0" rtlCol="0" anchor="ctr"/>
          <a:lstStyle/>
          <a:p>
            <a:pPr marL="0" indent="0">
              <a:buNone/>
            </a:pPr>
            <a:r>
              <a:rPr lang="en-US" sz="2400" b="1" dirty="0">
                <a:solidFill>
                  <a:srgbClr val="B99A5B"/>
                </a:solidFill>
                <a:latin typeface="Cormorant Garamond" pitchFamily="2" charset="77"/>
                <a:ea typeface="Century Schoolbook" pitchFamily="34" charset="-122"/>
                <a:cs typeface="Century Schoolbook" pitchFamily="34" charset="-120"/>
              </a:rPr>
              <a:t>Always on</a:t>
            </a:r>
            <a:endParaRPr lang="en-US" sz="2400" dirty="0">
              <a:latin typeface="Cormorant Garamond" pitchFamily="2" charset="77"/>
            </a:endParaRPr>
          </a:p>
        </p:txBody>
      </p:sp>
      <p:sp>
        <p:nvSpPr>
          <p:cNvPr id="11" name="Text 6"/>
          <p:cNvSpPr/>
          <p:nvPr/>
        </p:nvSpPr>
        <p:spPr>
          <a:xfrm>
            <a:off x="4480560" y="4553712"/>
            <a:ext cx="6949440" cy="868680"/>
          </a:xfrm>
          <a:prstGeom prst="rect">
            <a:avLst/>
          </a:prstGeom>
          <a:noFill/>
          <a:ln/>
        </p:spPr>
        <p:txBody>
          <a:bodyPr wrap="square" lIns="0" tIns="0" rIns="0" bIns="0" rtlCol="0" anchor="ctr"/>
          <a:lstStyle/>
          <a:p>
            <a:pPr marL="0" indent="0">
              <a:buNone/>
            </a:pPr>
            <a:r>
              <a:rPr lang="en-US" sz="1300" dirty="0">
                <a:solidFill>
                  <a:srgbClr val="F1EDE3"/>
                </a:solidFill>
                <a:latin typeface="Grotesque" panose="020B0504020202020204" pitchFamily="34" charset="0"/>
                <a:ea typeface="Calibri" pitchFamily="34" charset="-122"/>
                <a:cs typeface="Calibri" pitchFamily="34" charset="-120"/>
              </a:rPr>
              <a:t>In and out of term time, in every agreed market, so relationships never go cold between events.</a:t>
            </a:r>
            <a:endParaRPr lang="en-US" sz="1300" dirty="0">
              <a:latin typeface="Grotesque" panose="020B0504020202020204" pitchFamily="34" charset="0"/>
            </a:endParaRPr>
          </a:p>
        </p:txBody>
      </p:sp>
      <p:pic>
        <p:nvPicPr>
          <p:cNvPr id="12" name="Image 3" descr="icons/Gold Transparent.png"/>
          <p:cNvPicPr>
            <a:picLocks noChangeAspect="1"/>
          </p:cNvPicPr>
          <p:nvPr/>
        </p:nvPicPr>
        <p:blipFill>
          <a:blip r:embed="rId4"/>
          <a:stretch>
            <a:fillRect/>
          </a:stretch>
        </p:blipFill>
        <p:spPr>
          <a:xfrm>
            <a:off x="640080" y="5724144"/>
            <a:ext cx="384048" cy="384048"/>
          </a:xfrm>
          <a:prstGeom prst="rect">
            <a:avLst/>
          </a:prstGeom>
        </p:spPr>
      </p:pic>
      <p:sp>
        <p:nvSpPr>
          <p:cNvPr id="13" name="Text 7"/>
          <p:cNvSpPr/>
          <p:nvPr/>
        </p:nvSpPr>
        <p:spPr>
          <a:xfrm>
            <a:off x="1234440" y="5541264"/>
            <a:ext cx="3108960" cy="822960"/>
          </a:xfrm>
          <a:prstGeom prst="rect">
            <a:avLst/>
          </a:prstGeom>
          <a:noFill/>
          <a:ln/>
        </p:spPr>
        <p:txBody>
          <a:bodyPr wrap="square" lIns="0" tIns="0" rIns="0" bIns="0" rtlCol="0" anchor="ctr"/>
          <a:lstStyle/>
          <a:p>
            <a:pPr marL="0" indent="0">
              <a:buNone/>
            </a:pPr>
            <a:r>
              <a:rPr lang="en-US" sz="2400" b="1" dirty="0">
                <a:solidFill>
                  <a:srgbClr val="B99A5B"/>
                </a:solidFill>
                <a:latin typeface="Cormorant Garamond" pitchFamily="2" charset="77"/>
                <a:ea typeface="Century Schoolbook" pitchFamily="34" charset="-122"/>
                <a:cs typeface="Century Schoolbook" pitchFamily="34" charset="-120"/>
              </a:rPr>
              <a:t>Recruiting for fit</a:t>
            </a:r>
            <a:endParaRPr lang="en-US" sz="2400" dirty="0">
              <a:latin typeface="Cormorant Garamond" pitchFamily="2" charset="77"/>
            </a:endParaRPr>
          </a:p>
        </p:txBody>
      </p:sp>
      <p:sp>
        <p:nvSpPr>
          <p:cNvPr id="14" name="Text 8"/>
          <p:cNvSpPr/>
          <p:nvPr/>
        </p:nvSpPr>
        <p:spPr>
          <a:xfrm>
            <a:off x="4480560" y="5541264"/>
            <a:ext cx="6949440" cy="868680"/>
          </a:xfrm>
          <a:prstGeom prst="rect">
            <a:avLst/>
          </a:prstGeom>
          <a:noFill/>
          <a:ln/>
        </p:spPr>
        <p:txBody>
          <a:bodyPr wrap="square" lIns="0" tIns="0" rIns="0" bIns="0" rtlCol="0" anchor="ctr"/>
          <a:lstStyle/>
          <a:p>
            <a:pPr marL="0" indent="0">
              <a:buNone/>
            </a:pPr>
            <a:r>
              <a:rPr lang="en-US" sz="1300" dirty="0">
                <a:solidFill>
                  <a:srgbClr val="F1EDE3"/>
                </a:solidFill>
                <a:latin typeface="Grotesque" panose="020B0504020202020204" pitchFamily="34" charset="0"/>
                <a:ea typeface="Calibri" pitchFamily="34" charset="-122"/>
                <a:cs typeface="Calibri" pitchFamily="34" charset="-120"/>
              </a:rPr>
              <a:t>Pupils matched to your school and profile, with every offer decision staying with you.</a:t>
            </a:r>
            <a:endParaRPr lang="en-US" sz="1300" dirty="0">
              <a:latin typeface="Grotesque" panose="020B05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icons/Gold Transparent.png"/>
          <p:cNvPicPr>
            <a:picLocks noChangeAspect="1"/>
          </p:cNvPicPr>
          <p:nvPr/>
        </p:nvPicPr>
        <p:blipFill>
          <a:blip r:embed="rId3"/>
          <a:stretch>
            <a:fillRect/>
          </a:stretch>
        </p:blipFill>
        <p:spPr>
          <a:xfrm>
            <a:off x="11228832" y="411480"/>
            <a:ext cx="502920" cy="502920"/>
          </a:xfrm>
          <a:prstGeom prst="rect">
            <a:avLst/>
          </a:prstGeom>
        </p:spPr>
      </p:pic>
      <p:sp>
        <p:nvSpPr>
          <p:cNvPr id="3" name="Text 0"/>
          <p:cNvSpPr/>
          <p:nvPr/>
        </p:nvSpPr>
        <p:spPr>
          <a:xfrm>
            <a:off x="640080" y="384048"/>
            <a:ext cx="8686800" cy="320040"/>
          </a:xfrm>
          <a:prstGeom prst="rect">
            <a:avLst/>
          </a:prstGeom>
          <a:noFill/>
          <a:ln/>
        </p:spPr>
        <p:txBody>
          <a:bodyPr wrap="square" lIns="0" tIns="0" rIns="0" bIns="0" rtlCol="0" anchor="ctr"/>
          <a:lstStyle/>
          <a:p>
            <a:pPr marL="0" indent="0">
              <a:buNone/>
            </a:pPr>
            <a:r>
              <a:rPr lang="en-US" sz="1200" b="1" kern="0" spc="300" dirty="0">
                <a:solidFill>
                  <a:srgbClr val="B99A5B"/>
                </a:solidFill>
                <a:latin typeface="Grotesque" panose="020B0504020202020204" pitchFamily="34" charset="0"/>
                <a:ea typeface="Calibri" pitchFamily="34" charset="-122"/>
                <a:cs typeface="Calibri" pitchFamily="34" charset="-120"/>
              </a:rPr>
              <a:t>HOW IT WORKS</a:t>
            </a:r>
            <a:endParaRPr lang="en-US" sz="1200" dirty="0">
              <a:latin typeface="Grotesque" panose="020B0504020202020204" pitchFamily="34" charset="0"/>
            </a:endParaRPr>
          </a:p>
        </p:txBody>
      </p:sp>
      <p:sp>
        <p:nvSpPr>
          <p:cNvPr id="4" name="Text 1"/>
          <p:cNvSpPr/>
          <p:nvPr/>
        </p:nvSpPr>
        <p:spPr>
          <a:xfrm>
            <a:off x="640080" y="658368"/>
            <a:ext cx="10424160" cy="868680"/>
          </a:xfrm>
          <a:prstGeom prst="rect">
            <a:avLst/>
          </a:prstGeom>
          <a:noFill/>
          <a:ln/>
        </p:spPr>
        <p:txBody>
          <a:bodyPr wrap="square" lIns="0" tIns="0" rIns="0" bIns="0" rtlCol="0" anchor="ctr"/>
          <a:lstStyle/>
          <a:p>
            <a:pPr marL="0" indent="0">
              <a:buNone/>
            </a:pPr>
            <a:r>
              <a:rPr lang="en-US" sz="3600" b="1" dirty="0">
                <a:solidFill>
                  <a:srgbClr val="16331E"/>
                </a:solidFill>
                <a:latin typeface="Cormorant Garamond" pitchFamily="2" charset="77"/>
                <a:ea typeface="Century Schoolbook" pitchFamily="34" charset="-122"/>
                <a:cs typeface="Century Schoolbook" pitchFamily="34" charset="-120"/>
              </a:rPr>
              <a:t>The line is the school gate</a:t>
            </a:r>
            <a:endParaRPr lang="en-US" sz="3600" dirty="0">
              <a:solidFill>
                <a:srgbClr val="16331E"/>
              </a:solidFill>
              <a:latin typeface="Cormorant Garamond" pitchFamily="2" charset="77"/>
            </a:endParaRPr>
          </a:p>
        </p:txBody>
      </p:sp>
      <p:sp>
        <p:nvSpPr>
          <p:cNvPr id="5" name="Shape 2"/>
          <p:cNvSpPr/>
          <p:nvPr/>
        </p:nvSpPr>
        <p:spPr>
          <a:xfrm>
            <a:off x="640080" y="1828800"/>
            <a:ext cx="5394960" cy="4206240"/>
          </a:xfrm>
          <a:prstGeom prst="roundRect">
            <a:avLst>
              <a:gd name="adj" fmla="val 1739"/>
            </a:avLst>
          </a:prstGeom>
          <a:solidFill>
            <a:srgbClr val="16331E"/>
          </a:solidFill>
          <a:ln/>
        </p:spPr>
        <p:txBody>
          <a:bodyPr/>
          <a:lstStyle/>
          <a:p>
            <a:endParaRPr lang="en-GB"/>
          </a:p>
        </p:txBody>
      </p:sp>
      <p:sp>
        <p:nvSpPr>
          <p:cNvPr id="6" name="Text 3"/>
          <p:cNvSpPr/>
          <p:nvPr/>
        </p:nvSpPr>
        <p:spPr>
          <a:xfrm>
            <a:off x="1005840" y="2148840"/>
            <a:ext cx="4663440" cy="457200"/>
          </a:xfrm>
          <a:prstGeom prst="rect">
            <a:avLst/>
          </a:prstGeom>
          <a:noFill/>
          <a:ln/>
        </p:spPr>
        <p:txBody>
          <a:bodyPr wrap="square" lIns="0" tIns="0" rIns="0" bIns="0" rtlCol="0" anchor="ctr"/>
          <a:lstStyle/>
          <a:p>
            <a:pPr marL="0" indent="0">
              <a:buNone/>
            </a:pPr>
            <a:r>
              <a:rPr lang="en-US" sz="2400" b="1" dirty="0">
                <a:solidFill>
                  <a:srgbClr val="B99A5B"/>
                </a:solidFill>
                <a:latin typeface="Cormorant Garamond" pitchFamily="2" charset="77"/>
                <a:ea typeface="Century Schoolbook" pitchFamily="34" charset="-122"/>
                <a:cs typeface="Century Schoolbook" pitchFamily="34" charset="-120"/>
              </a:rPr>
              <a:t>Outside the gate: BEP runs</a:t>
            </a:r>
            <a:endParaRPr lang="en-US" sz="2400" dirty="0">
              <a:latin typeface="Cormorant Garamond" pitchFamily="2" charset="77"/>
            </a:endParaRPr>
          </a:p>
        </p:txBody>
      </p:sp>
      <p:sp>
        <p:nvSpPr>
          <p:cNvPr id="7" name="Text 4"/>
          <p:cNvSpPr/>
          <p:nvPr/>
        </p:nvSpPr>
        <p:spPr>
          <a:xfrm>
            <a:off x="1005840" y="2697480"/>
            <a:ext cx="4663440" cy="310896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FFFFFF"/>
                </a:solidFill>
                <a:latin typeface="Grotesque" panose="020B0504020202020204" pitchFamily="34" charset="0"/>
                <a:ea typeface="Calibri" pitchFamily="34" charset="-122"/>
                <a:cs typeface="Calibri" pitchFamily="34" charset="-120"/>
              </a:rPr>
              <a:t>Market strategy and research</a:t>
            </a:r>
            <a:endParaRPr lang="en-US" sz="1400" dirty="0">
              <a:latin typeface="Grotesque" panose="020B0504020202020204" pitchFamily="34" charset="0"/>
            </a:endParaRPr>
          </a:p>
          <a:p>
            <a:pPr marL="342900" indent="-342900">
              <a:spcAft>
                <a:spcPts val="1000"/>
              </a:spcAft>
              <a:buSzPct val="100000"/>
              <a:buChar char="•"/>
            </a:pPr>
            <a:r>
              <a:rPr lang="en-US" sz="1400" dirty="0">
                <a:solidFill>
                  <a:srgbClr val="FFFFFF"/>
                </a:solidFill>
                <a:latin typeface="Grotesque" panose="020B0504020202020204" pitchFamily="34" charset="0"/>
                <a:ea typeface="Calibri" pitchFamily="34" charset="-122"/>
                <a:cs typeface="Calibri" pitchFamily="34" charset="-120"/>
              </a:rPr>
              <a:t>Agent recruitment, training and management</a:t>
            </a:r>
            <a:endParaRPr lang="en-US" sz="1400" dirty="0">
              <a:latin typeface="Grotesque" panose="020B0504020202020204" pitchFamily="34" charset="0"/>
            </a:endParaRPr>
          </a:p>
          <a:p>
            <a:pPr marL="342900" indent="-342900">
              <a:spcAft>
                <a:spcPts val="1000"/>
              </a:spcAft>
              <a:buSzPct val="100000"/>
              <a:buChar char="•"/>
            </a:pPr>
            <a:r>
              <a:rPr lang="en-US" sz="1400" dirty="0">
                <a:solidFill>
                  <a:srgbClr val="FFFFFF"/>
                </a:solidFill>
                <a:latin typeface="Grotesque" panose="020B0504020202020204" pitchFamily="34" charset="0"/>
                <a:ea typeface="Calibri" pitchFamily="34" charset="-122"/>
                <a:cs typeface="Calibri" pitchFamily="34" charset="-120"/>
              </a:rPr>
              <a:t>Lead generation and family nurturing</a:t>
            </a:r>
            <a:endParaRPr lang="en-US" sz="1400" dirty="0">
              <a:latin typeface="Grotesque" panose="020B0504020202020204" pitchFamily="34" charset="0"/>
            </a:endParaRPr>
          </a:p>
          <a:p>
            <a:pPr marL="342900" indent="-342900">
              <a:spcAft>
                <a:spcPts val="1000"/>
              </a:spcAft>
              <a:buSzPct val="100000"/>
              <a:buChar char="•"/>
            </a:pPr>
            <a:r>
              <a:rPr lang="en-US" sz="1400" dirty="0">
                <a:solidFill>
                  <a:srgbClr val="FFFFFF"/>
                </a:solidFill>
                <a:latin typeface="Grotesque" panose="020B0504020202020204" pitchFamily="34" charset="0"/>
                <a:ea typeface="Calibri" pitchFamily="34" charset="-122"/>
                <a:cs typeface="Calibri" pitchFamily="34" charset="-120"/>
              </a:rPr>
              <a:t>Application handling and assessment</a:t>
            </a:r>
            <a:endParaRPr lang="en-US" sz="1400" dirty="0">
              <a:latin typeface="Grotesque" panose="020B0504020202020204" pitchFamily="34" charset="0"/>
            </a:endParaRPr>
          </a:p>
          <a:p>
            <a:pPr marL="342900" indent="-342900">
              <a:spcAft>
                <a:spcPts val="1000"/>
              </a:spcAft>
              <a:buSzPct val="100000"/>
              <a:buChar char="•"/>
            </a:pPr>
            <a:r>
              <a:rPr lang="en-US" sz="1400" dirty="0">
                <a:solidFill>
                  <a:srgbClr val="FFFFFF"/>
                </a:solidFill>
                <a:latin typeface="Grotesque" panose="020B0504020202020204" pitchFamily="34" charset="0"/>
                <a:ea typeface="Calibri" pitchFamily="34" charset="-122"/>
                <a:cs typeface="Calibri" pitchFamily="34" charset="-120"/>
              </a:rPr>
              <a:t>In-territory representation, year round</a:t>
            </a:r>
            <a:endParaRPr lang="en-US" sz="1400" dirty="0">
              <a:latin typeface="Grotesque" panose="020B0504020202020204" pitchFamily="34" charset="0"/>
            </a:endParaRPr>
          </a:p>
          <a:p>
            <a:pPr marL="342900" indent="-342900">
              <a:spcAft>
                <a:spcPts val="1000"/>
              </a:spcAft>
              <a:buSzPct val="100000"/>
              <a:buChar char="•"/>
            </a:pPr>
            <a:r>
              <a:rPr lang="en-US" sz="1400" dirty="0">
                <a:solidFill>
                  <a:srgbClr val="FFFFFF"/>
                </a:solidFill>
                <a:latin typeface="Grotesque" panose="020B0504020202020204" pitchFamily="34" charset="0"/>
                <a:ea typeface="Calibri" pitchFamily="34" charset="-122"/>
                <a:cs typeface="Calibri" pitchFamily="34" charset="-120"/>
              </a:rPr>
              <a:t>Pre-arrival, guardianship and settling follow-up</a:t>
            </a:r>
            <a:endParaRPr lang="en-US" sz="1400" dirty="0">
              <a:latin typeface="Grotesque" panose="020B0504020202020204" pitchFamily="34" charset="0"/>
            </a:endParaRPr>
          </a:p>
        </p:txBody>
      </p:sp>
      <p:sp>
        <p:nvSpPr>
          <p:cNvPr id="8" name="Shape 5"/>
          <p:cNvSpPr/>
          <p:nvPr/>
        </p:nvSpPr>
        <p:spPr>
          <a:xfrm>
            <a:off x="6263640" y="1828800"/>
            <a:ext cx="5394960" cy="4206240"/>
          </a:xfrm>
          <a:prstGeom prst="roundRect">
            <a:avLst>
              <a:gd name="adj" fmla="val 1739"/>
            </a:avLst>
          </a:prstGeom>
          <a:solidFill>
            <a:srgbClr val="F1EDE3"/>
          </a:solidFill>
          <a:ln/>
        </p:spPr>
        <p:txBody>
          <a:bodyPr/>
          <a:lstStyle/>
          <a:p>
            <a:endParaRPr lang="en-GB"/>
          </a:p>
        </p:txBody>
      </p:sp>
      <p:sp>
        <p:nvSpPr>
          <p:cNvPr id="9" name="Text 6"/>
          <p:cNvSpPr/>
          <p:nvPr/>
        </p:nvSpPr>
        <p:spPr>
          <a:xfrm>
            <a:off x="6629400" y="2148840"/>
            <a:ext cx="4663440" cy="457200"/>
          </a:xfrm>
          <a:prstGeom prst="rect">
            <a:avLst/>
          </a:prstGeom>
          <a:noFill/>
          <a:ln/>
        </p:spPr>
        <p:txBody>
          <a:bodyPr wrap="square" lIns="0" tIns="0" rIns="0" bIns="0" rtlCol="0" anchor="ctr"/>
          <a:lstStyle/>
          <a:p>
            <a:pPr marL="0" indent="0">
              <a:buNone/>
            </a:pPr>
            <a:r>
              <a:rPr lang="en-US" sz="2400" b="1" dirty="0">
                <a:solidFill>
                  <a:srgbClr val="1E392A"/>
                </a:solidFill>
                <a:latin typeface="Cormorant Garamond" pitchFamily="2" charset="77"/>
                <a:ea typeface="Century Schoolbook" pitchFamily="34" charset="-122"/>
                <a:cs typeface="Century Schoolbook" pitchFamily="34" charset="-120"/>
              </a:rPr>
              <a:t>At the gate: you keep</a:t>
            </a:r>
            <a:endParaRPr lang="en-US" sz="2400" dirty="0">
              <a:latin typeface="Cormorant Garamond" pitchFamily="2" charset="77"/>
            </a:endParaRPr>
          </a:p>
        </p:txBody>
      </p:sp>
      <p:sp>
        <p:nvSpPr>
          <p:cNvPr id="10" name="Text 7"/>
          <p:cNvSpPr/>
          <p:nvPr/>
        </p:nvSpPr>
        <p:spPr>
          <a:xfrm>
            <a:off x="6629400" y="2697480"/>
            <a:ext cx="4663440" cy="310896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232323"/>
                </a:solidFill>
                <a:latin typeface="Grotesque" panose="020B0504020202020204" pitchFamily="34" charset="0"/>
                <a:ea typeface="Calibri" pitchFamily="34" charset="-122"/>
                <a:cs typeface="Calibri" pitchFamily="34" charset="-120"/>
              </a:rPr>
              <a:t>Every offer and admissions decision</a:t>
            </a:r>
            <a:endParaRPr lang="en-US" sz="1400" dirty="0">
              <a:latin typeface="Grotesque" panose="020B0504020202020204" pitchFamily="34" charset="0"/>
            </a:endParaRPr>
          </a:p>
          <a:p>
            <a:pPr marL="342900" indent="-342900">
              <a:spcAft>
                <a:spcPts val="1000"/>
              </a:spcAft>
              <a:buSzPct val="100000"/>
              <a:buChar char="•"/>
            </a:pPr>
            <a:r>
              <a:rPr lang="en-US" sz="1400" dirty="0">
                <a:solidFill>
                  <a:srgbClr val="232323"/>
                </a:solidFill>
                <a:latin typeface="Grotesque" panose="020B0504020202020204" pitchFamily="34" charset="0"/>
                <a:ea typeface="Calibri" pitchFamily="34" charset="-122"/>
                <a:cs typeface="Calibri" pitchFamily="34" charset="-120"/>
              </a:rPr>
              <a:t>The welcome and the family relationship</a:t>
            </a:r>
            <a:endParaRPr lang="en-US" sz="1400" dirty="0">
              <a:latin typeface="Grotesque" panose="020B0504020202020204" pitchFamily="34" charset="0"/>
            </a:endParaRPr>
          </a:p>
          <a:p>
            <a:pPr marL="342900" indent="-342900">
              <a:spcAft>
                <a:spcPts val="1000"/>
              </a:spcAft>
              <a:buSzPct val="100000"/>
              <a:buChar char="•"/>
            </a:pPr>
            <a:r>
              <a:rPr lang="en-US" sz="1400" dirty="0">
                <a:solidFill>
                  <a:srgbClr val="232323"/>
                </a:solidFill>
                <a:latin typeface="Grotesque" panose="020B0504020202020204" pitchFamily="34" charset="0"/>
                <a:ea typeface="Calibri" pitchFamily="34" charset="-122"/>
                <a:cs typeface="Calibri" pitchFamily="34" charset="-120"/>
              </a:rPr>
              <a:t>Pastoral care, entirely</a:t>
            </a:r>
            <a:endParaRPr lang="en-US" sz="1400" dirty="0">
              <a:latin typeface="Grotesque" panose="020B0504020202020204" pitchFamily="34" charset="0"/>
            </a:endParaRPr>
          </a:p>
          <a:p>
            <a:pPr marL="342900" indent="-342900">
              <a:spcAft>
                <a:spcPts val="1000"/>
              </a:spcAft>
              <a:buSzPct val="100000"/>
              <a:buChar char="•"/>
            </a:pPr>
            <a:r>
              <a:rPr lang="en-US" sz="1400" dirty="0">
                <a:solidFill>
                  <a:srgbClr val="232323"/>
                </a:solidFill>
                <a:latin typeface="Grotesque" panose="020B0504020202020204" pitchFamily="34" charset="0"/>
                <a:ea typeface="Calibri" pitchFamily="34" charset="-122"/>
                <a:cs typeface="Calibri" pitchFamily="34" charset="-120"/>
              </a:rPr>
              <a:t>Your pupil profile and nationality balance</a:t>
            </a:r>
            <a:endParaRPr lang="en-US" sz="1400" dirty="0">
              <a:latin typeface="Grotesque" panose="020B0504020202020204" pitchFamily="34" charset="0"/>
            </a:endParaRPr>
          </a:p>
          <a:p>
            <a:pPr marL="342900" indent="-342900">
              <a:spcAft>
                <a:spcPts val="1000"/>
              </a:spcAft>
              <a:buSzPct val="100000"/>
              <a:buChar char="•"/>
            </a:pPr>
            <a:r>
              <a:rPr lang="en-US" sz="1400" dirty="0">
                <a:solidFill>
                  <a:srgbClr val="232323"/>
                </a:solidFill>
                <a:latin typeface="Grotesque" panose="020B0504020202020204" pitchFamily="34" charset="0"/>
                <a:ea typeface="Calibri" pitchFamily="34" charset="-122"/>
                <a:cs typeface="Calibri" pitchFamily="34" charset="-120"/>
              </a:rPr>
              <a:t>Your existing agents and their commissions</a:t>
            </a:r>
            <a:endParaRPr lang="en-US" sz="1400" dirty="0">
              <a:latin typeface="Grotesque" panose="020B0504020202020204" pitchFamily="34" charset="0"/>
            </a:endParaRPr>
          </a:p>
          <a:p>
            <a:pPr marL="342900" indent="-342900">
              <a:spcAft>
                <a:spcPts val="1000"/>
              </a:spcAft>
              <a:buSzPct val="100000"/>
              <a:buChar char="•"/>
            </a:pPr>
            <a:r>
              <a:rPr lang="en-US" sz="1400" dirty="0">
                <a:solidFill>
                  <a:srgbClr val="232323"/>
                </a:solidFill>
                <a:latin typeface="Grotesque" panose="020B0504020202020204" pitchFamily="34" charset="0"/>
                <a:ea typeface="Calibri" pitchFamily="34" charset="-122"/>
                <a:cs typeface="Calibri" pitchFamily="34" charset="-120"/>
              </a:rPr>
              <a:t>Your families, your data, your pipeline</a:t>
            </a:r>
            <a:endParaRPr lang="en-US" sz="1400" dirty="0">
              <a:latin typeface="Grotesque" panose="020B05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icons/Gold Transparent.png"/>
          <p:cNvPicPr>
            <a:picLocks noChangeAspect="1"/>
          </p:cNvPicPr>
          <p:nvPr/>
        </p:nvPicPr>
        <p:blipFill>
          <a:blip r:embed="rId3"/>
          <a:stretch>
            <a:fillRect/>
          </a:stretch>
        </p:blipFill>
        <p:spPr>
          <a:xfrm>
            <a:off x="11228832" y="411480"/>
            <a:ext cx="502920" cy="502920"/>
          </a:xfrm>
          <a:prstGeom prst="rect">
            <a:avLst/>
          </a:prstGeom>
        </p:spPr>
      </p:pic>
      <p:sp>
        <p:nvSpPr>
          <p:cNvPr id="3" name="Text 0"/>
          <p:cNvSpPr/>
          <p:nvPr/>
        </p:nvSpPr>
        <p:spPr>
          <a:xfrm>
            <a:off x="640080" y="384048"/>
            <a:ext cx="8686800" cy="320040"/>
          </a:xfrm>
          <a:prstGeom prst="rect">
            <a:avLst/>
          </a:prstGeom>
          <a:noFill/>
          <a:ln/>
        </p:spPr>
        <p:txBody>
          <a:bodyPr wrap="square" lIns="0" tIns="0" rIns="0" bIns="0" rtlCol="0" anchor="ctr"/>
          <a:lstStyle/>
          <a:p>
            <a:pPr marL="0" indent="0">
              <a:buNone/>
            </a:pPr>
            <a:r>
              <a:rPr lang="en-US" sz="1200" b="1" kern="0" spc="300" dirty="0">
                <a:solidFill>
                  <a:srgbClr val="B99A5B"/>
                </a:solidFill>
                <a:latin typeface="Grotesque" panose="020B0504020202020204" pitchFamily="34" charset="0"/>
                <a:ea typeface="Calibri" pitchFamily="34" charset="-122"/>
                <a:cs typeface="Calibri" pitchFamily="34" charset="-120"/>
              </a:rPr>
              <a:t>HOW IT WORKS</a:t>
            </a:r>
            <a:endParaRPr lang="en-US" sz="1200" dirty="0">
              <a:latin typeface="Grotesque" panose="020B0504020202020204" pitchFamily="34" charset="0"/>
            </a:endParaRPr>
          </a:p>
        </p:txBody>
      </p:sp>
      <p:sp>
        <p:nvSpPr>
          <p:cNvPr id="4" name="Text 1"/>
          <p:cNvSpPr/>
          <p:nvPr/>
        </p:nvSpPr>
        <p:spPr>
          <a:xfrm>
            <a:off x="640080" y="658368"/>
            <a:ext cx="10424160" cy="868680"/>
          </a:xfrm>
          <a:prstGeom prst="rect">
            <a:avLst/>
          </a:prstGeom>
          <a:noFill/>
          <a:ln/>
        </p:spPr>
        <p:txBody>
          <a:bodyPr wrap="square" lIns="0" tIns="0" rIns="0" bIns="0" rtlCol="0" anchor="ctr"/>
          <a:lstStyle/>
          <a:p>
            <a:pPr marL="0" indent="0">
              <a:buNone/>
            </a:pPr>
            <a:r>
              <a:rPr lang="en-US" sz="3600" b="1" dirty="0">
                <a:solidFill>
                  <a:srgbClr val="16331E"/>
                </a:solidFill>
                <a:latin typeface="Cormorant Garamond" pitchFamily="2" charset="77"/>
                <a:ea typeface="Century Schoolbook" pitchFamily="34" charset="-122"/>
                <a:cs typeface="Century Schoolbook" pitchFamily="34" charset="-120"/>
              </a:rPr>
              <a:t>What BEP is not</a:t>
            </a:r>
            <a:endParaRPr lang="en-US" sz="3600" dirty="0">
              <a:solidFill>
                <a:srgbClr val="16331E"/>
              </a:solidFill>
              <a:latin typeface="Cormorant Garamond" pitchFamily="2" charset="77"/>
            </a:endParaRPr>
          </a:p>
        </p:txBody>
      </p:sp>
      <p:sp>
        <p:nvSpPr>
          <p:cNvPr id="5" name="Shape 2"/>
          <p:cNvSpPr/>
          <p:nvPr/>
        </p:nvSpPr>
        <p:spPr>
          <a:xfrm>
            <a:off x="640080" y="1965960"/>
            <a:ext cx="5257800" cy="1828800"/>
          </a:xfrm>
          <a:prstGeom prst="roundRect">
            <a:avLst>
              <a:gd name="adj" fmla="val 4000"/>
            </a:avLst>
          </a:prstGeom>
          <a:solidFill>
            <a:srgbClr val="F1EDE3"/>
          </a:solidFill>
          <a:ln/>
        </p:spPr>
        <p:txBody>
          <a:bodyPr/>
          <a:lstStyle/>
          <a:p>
            <a:endParaRPr lang="en-GB"/>
          </a:p>
        </p:txBody>
      </p:sp>
      <p:sp>
        <p:nvSpPr>
          <p:cNvPr id="6" name="Text 3"/>
          <p:cNvSpPr/>
          <p:nvPr/>
        </p:nvSpPr>
        <p:spPr>
          <a:xfrm>
            <a:off x="960120" y="2194560"/>
            <a:ext cx="4617720" cy="457200"/>
          </a:xfrm>
          <a:prstGeom prst="rect">
            <a:avLst/>
          </a:prstGeom>
          <a:noFill/>
          <a:ln/>
        </p:spPr>
        <p:txBody>
          <a:bodyPr wrap="square" lIns="0" tIns="0" rIns="0" bIns="0" rtlCol="0" anchor="ctr"/>
          <a:lstStyle/>
          <a:p>
            <a:pPr marL="0" indent="0">
              <a:buNone/>
            </a:pPr>
            <a:r>
              <a:rPr lang="en-US" sz="2000" b="1" dirty="0">
                <a:solidFill>
                  <a:srgbClr val="1E392A"/>
                </a:solidFill>
                <a:latin typeface="Cormorant Garamond" pitchFamily="2" charset="77"/>
                <a:ea typeface="Century Schoolbook" pitchFamily="34" charset="-122"/>
                <a:cs typeface="Century Schoolbook" pitchFamily="34" charset="-120"/>
              </a:rPr>
              <a:t>Not an agent</a:t>
            </a:r>
            <a:endParaRPr lang="en-US" sz="2000" dirty="0">
              <a:latin typeface="Cormorant Garamond" pitchFamily="2" charset="77"/>
            </a:endParaRPr>
          </a:p>
        </p:txBody>
      </p:sp>
      <p:sp>
        <p:nvSpPr>
          <p:cNvPr id="7" name="Text 4"/>
          <p:cNvSpPr/>
          <p:nvPr/>
        </p:nvSpPr>
        <p:spPr>
          <a:xfrm>
            <a:off x="960120" y="2697480"/>
            <a:ext cx="4617720" cy="960120"/>
          </a:xfrm>
          <a:prstGeom prst="rect">
            <a:avLst/>
          </a:prstGeom>
          <a:noFill/>
          <a:ln/>
        </p:spPr>
        <p:txBody>
          <a:bodyPr wrap="square" lIns="0" tIns="0" rIns="0" bIns="0" rtlCol="0" anchor="ctr"/>
          <a:lstStyle/>
          <a:p>
            <a:pPr marL="0" indent="0">
              <a:buNone/>
            </a:pPr>
            <a:r>
              <a:rPr lang="en-US" sz="1250" dirty="0">
                <a:solidFill>
                  <a:srgbClr val="232323"/>
                </a:solidFill>
                <a:latin typeface="Grotesque" panose="020B0504020202020204" pitchFamily="34" charset="0"/>
                <a:ea typeface="Calibri" pitchFamily="34" charset="-122"/>
                <a:cs typeface="Calibri" pitchFamily="34" charset="-120"/>
              </a:rPr>
              <a:t>An agent is paid to introduce, then moves on. BEP is engaged to run the whole function and is accountable for how it works.</a:t>
            </a:r>
            <a:endParaRPr lang="en-US" sz="1250" dirty="0">
              <a:latin typeface="Grotesque" panose="020B0504020202020204" pitchFamily="34" charset="0"/>
            </a:endParaRPr>
          </a:p>
        </p:txBody>
      </p:sp>
      <p:sp>
        <p:nvSpPr>
          <p:cNvPr id="8" name="Shape 5"/>
          <p:cNvSpPr/>
          <p:nvPr/>
        </p:nvSpPr>
        <p:spPr>
          <a:xfrm>
            <a:off x="6263640" y="1965960"/>
            <a:ext cx="5257800" cy="1828800"/>
          </a:xfrm>
          <a:prstGeom prst="roundRect">
            <a:avLst>
              <a:gd name="adj" fmla="val 4000"/>
            </a:avLst>
          </a:prstGeom>
          <a:solidFill>
            <a:srgbClr val="F1EDE3"/>
          </a:solidFill>
          <a:ln/>
        </p:spPr>
        <p:txBody>
          <a:bodyPr/>
          <a:lstStyle/>
          <a:p>
            <a:endParaRPr lang="en-GB"/>
          </a:p>
        </p:txBody>
      </p:sp>
      <p:sp>
        <p:nvSpPr>
          <p:cNvPr id="9" name="Text 6"/>
          <p:cNvSpPr/>
          <p:nvPr/>
        </p:nvSpPr>
        <p:spPr>
          <a:xfrm>
            <a:off x="6583680" y="2194560"/>
            <a:ext cx="4617720" cy="457200"/>
          </a:xfrm>
          <a:prstGeom prst="rect">
            <a:avLst/>
          </a:prstGeom>
          <a:noFill/>
          <a:ln/>
        </p:spPr>
        <p:txBody>
          <a:bodyPr wrap="square" lIns="0" tIns="0" rIns="0" bIns="0" rtlCol="0" anchor="ctr"/>
          <a:lstStyle/>
          <a:p>
            <a:pPr marL="0" indent="0">
              <a:buNone/>
            </a:pPr>
            <a:r>
              <a:rPr lang="en-US" sz="2000" b="1" dirty="0">
                <a:solidFill>
                  <a:srgbClr val="1E392A"/>
                </a:solidFill>
                <a:latin typeface="Cormorant Garamond" pitchFamily="2" charset="77"/>
                <a:ea typeface="Century Schoolbook" pitchFamily="34" charset="-122"/>
                <a:cs typeface="Century Schoolbook" pitchFamily="34" charset="-120"/>
              </a:rPr>
              <a:t>Not exclusive</a:t>
            </a:r>
            <a:endParaRPr lang="en-US" sz="2000" dirty="0">
              <a:latin typeface="Cormorant Garamond" pitchFamily="2" charset="77"/>
            </a:endParaRPr>
          </a:p>
        </p:txBody>
      </p:sp>
      <p:sp>
        <p:nvSpPr>
          <p:cNvPr id="10" name="Text 7"/>
          <p:cNvSpPr/>
          <p:nvPr/>
        </p:nvSpPr>
        <p:spPr>
          <a:xfrm>
            <a:off x="6583680" y="2697480"/>
            <a:ext cx="4617720" cy="960120"/>
          </a:xfrm>
          <a:prstGeom prst="rect">
            <a:avLst/>
          </a:prstGeom>
          <a:noFill/>
          <a:ln/>
        </p:spPr>
        <p:txBody>
          <a:bodyPr wrap="square" lIns="0" tIns="0" rIns="0" bIns="0" rtlCol="0" anchor="ctr"/>
          <a:lstStyle/>
          <a:p>
            <a:pPr marL="0" indent="0">
              <a:buNone/>
            </a:pPr>
            <a:r>
              <a:rPr lang="en-US" sz="1250" dirty="0">
                <a:solidFill>
                  <a:srgbClr val="232323"/>
                </a:solidFill>
                <a:latin typeface="Grotesque" panose="020B0504020202020204" pitchFamily="34" charset="0"/>
                <a:ea typeface="Calibri" pitchFamily="34" charset="-122"/>
                <a:cs typeface="Calibri" pitchFamily="34" charset="-120"/>
              </a:rPr>
              <a:t>Your agents and their commission structures stay exactly as they are. BEP coordinates across all of them.</a:t>
            </a:r>
            <a:endParaRPr lang="en-US" sz="1250" dirty="0">
              <a:latin typeface="Grotesque" panose="020B0504020202020204" pitchFamily="34" charset="0"/>
            </a:endParaRPr>
          </a:p>
        </p:txBody>
      </p:sp>
      <p:sp>
        <p:nvSpPr>
          <p:cNvPr id="11" name="Shape 8"/>
          <p:cNvSpPr/>
          <p:nvPr/>
        </p:nvSpPr>
        <p:spPr>
          <a:xfrm>
            <a:off x="640080" y="4069080"/>
            <a:ext cx="5257800" cy="1828800"/>
          </a:xfrm>
          <a:prstGeom prst="roundRect">
            <a:avLst>
              <a:gd name="adj" fmla="val 4000"/>
            </a:avLst>
          </a:prstGeom>
          <a:solidFill>
            <a:srgbClr val="F1EDE3"/>
          </a:solidFill>
          <a:ln/>
        </p:spPr>
        <p:txBody>
          <a:bodyPr/>
          <a:lstStyle/>
          <a:p>
            <a:endParaRPr lang="en-GB"/>
          </a:p>
        </p:txBody>
      </p:sp>
      <p:sp>
        <p:nvSpPr>
          <p:cNvPr id="12" name="Text 9"/>
          <p:cNvSpPr/>
          <p:nvPr/>
        </p:nvSpPr>
        <p:spPr>
          <a:xfrm>
            <a:off x="960120" y="4297680"/>
            <a:ext cx="4617720" cy="457200"/>
          </a:xfrm>
          <a:prstGeom prst="rect">
            <a:avLst/>
          </a:prstGeom>
          <a:noFill/>
          <a:ln/>
        </p:spPr>
        <p:txBody>
          <a:bodyPr wrap="square" lIns="0" tIns="0" rIns="0" bIns="0" rtlCol="0" anchor="ctr"/>
          <a:lstStyle/>
          <a:p>
            <a:pPr marL="0" indent="0">
              <a:buNone/>
            </a:pPr>
            <a:r>
              <a:rPr lang="en-US" sz="2000" b="1" dirty="0">
                <a:solidFill>
                  <a:srgbClr val="1E392A"/>
                </a:solidFill>
                <a:latin typeface="Cormorant Garamond" pitchFamily="2" charset="77"/>
                <a:ea typeface="Century Schoolbook" pitchFamily="34" charset="-122"/>
                <a:cs typeface="Century Schoolbook" pitchFamily="34" charset="-120"/>
              </a:rPr>
              <a:t>Not a marketplace</a:t>
            </a:r>
            <a:endParaRPr lang="en-US" sz="2000" dirty="0">
              <a:latin typeface="Cormorant Garamond" pitchFamily="2" charset="77"/>
            </a:endParaRPr>
          </a:p>
        </p:txBody>
      </p:sp>
      <p:sp>
        <p:nvSpPr>
          <p:cNvPr id="13" name="Text 10"/>
          <p:cNvSpPr/>
          <p:nvPr/>
        </p:nvSpPr>
        <p:spPr>
          <a:xfrm>
            <a:off x="960120" y="4800600"/>
            <a:ext cx="4617720" cy="960120"/>
          </a:xfrm>
          <a:prstGeom prst="rect">
            <a:avLst/>
          </a:prstGeom>
          <a:noFill/>
          <a:ln/>
        </p:spPr>
        <p:txBody>
          <a:bodyPr wrap="square" lIns="0" tIns="0" rIns="0" bIns="0" rtlCol="0" anchor="ctr"/>
          <a:lstStyle/>
          <a:p>
            <a:pPr marL="0" indent="0">
              <a:buNone/>
            </a:pPr>
            <a:r>
              <a:rPr lang="en-US" sz="1250" dirty="0">
                <a:solidFill>
                  <a:srgbClr val="232323"/>
                </a:solidFill>
                <a:latin typeface="Grotesque" panose="020B0504020202020204" pitchFamily="34" charset="0"/>
                <a:ea typeface="Calibri" pitchFamily="34" charset="-122"/>
                <a:cs typeface="Calibri" pitchFamily="34" charset="-120"/>
              </a:rPr>
              <a:t>No browsing platform, no two-track system. One process for every pupil, whoever introduced them.</a:t>
            </a:r>
            <a:endParaRPr lang="en-US" sz="1250" dirty="0">
              <a:latin typeface="Grotesque" panose="020B0504020202020204" pitchFamily="34" charset="0"/>
            </a:endParaRPr>
          </a:p>
        </p:txBody>
      </p:sp>
      <p:sp>
        <p:nvSpPr>
          <p:cNvPr id="14" name="Shape 11"/>
          <p:cNvSpPr/>
          <p:nvPr/>
        </p:nvSpPr>
        <p:spPr>
          <a:xfrm>
            <a:off x="6263640" y="4069080"/>
            <a:ext cx="5257800" cy="1828800"/>
          </a:xfrm>
          <a:prstGeom prst="roundRect">
            <a:avLst>
              <a:gd name="adj" fmla="val 4000"/>
            </a:avLst>
          </a:prstGeom>
          <a:solidFill>
            <a:srgbClr val="F1EDE3"/>
          </a:solidFill>
          <a:ln/>
        </p:spPr>
        <p:txBody>
          <a:bodyPr/>
          <a:lstStyle/>
          <a:p>
            <a:endParaRPr lang="en-GB"/>
          </a:p>
        </p:txBody>
      </p:sp>
      <p:sp>
        <p:nvSpPr>
          <p:cNvPr id="15" name="Text 12"/>
          <p:cNvSpPr/>
          <p:nvPr/>
        </p:nvSpPr>
        <p:spPr>
          <a:xfrm>
            <a:off x="6583680" y="4297680"/>
            <a:ext cx="4617720" cy="457200"/>
          </a:xfrm>
          <a:prstGeom prst="rect">
            <a:avLst/>
          </a:prstGeom>
          <a:noFill/>
          <a:ln/>
        </p:spPr>
        <p:txBody>
          <a:bodyPr wrap="square" lIns="0" tIns="0" rIns="0" bIns="0" rtlCol="0" anchor="ctr"/>
          <a:lstStyle/>
          <a:p>
            <a:pPr marL="0" indent="0">
              <a:buNone/>
            </a:pPr>
            <a:r>
              <a:rPr lang="en-US" sz="2000" b="1" dirty="0">
                <a:solidFill>
                  <a:srgbClr val="1E392A"/>
                </a:solidFill>
                <a:latin typeface="Cormorant Garamond" pitchFamily="2" charset="77"/>
                <a:ea typeface="Century Schoolbook" pitchFamily="34" charset="-122"/>
                <a:cs typeface="Century Schoolbook" pitchFamily="34" charset="-120"/>
              </a:rPr>
              <a:t>Not a lock-in</a:t>
            </a:r>
            <a:endParaRPr lang="en-US" sz="2000" dirty="0">
              <a:latin typeface="Cormorant Garamond" pitchFamily="2" charset="77"/>
            </a:endParaRPr>
          </a:p>
        </p:txBody>
      </p:sp>
      <p:sp>
        <p:nvSpPr>
          <p:cNvPr id="16" name="Text 13"/>
          <p:cNvSpPr/>
          <p:nvPr/>
        </p:nvSpPr>
        <p:spPr>
          <a:xfrm>
            <a:off x="6583680" y="4800600"/>
            <a:ext cx="4617720" cy="960120"/>
          </a:xfrm>
          <a:prstGeom prst="rect">
            <a:avLst/>
          </a:prstGeom>
          <a:noFill/>
          <a:ln/>
        </p:spPr>
        <p:txBody>
          <a:bodyPr wrap="square" lIns="0" tIns="0" rIns="0" bIns="0" rtlCol="0" anchor="ctr"/>
          <a:lstStyle/>
          <a:p>
            <a:pPr marL="0" indent="0">
              <a:buNone/>
            </a:pPr>
            <a:r>
              <a:rPr lang="en-US" sz="1250" dirty="0">
                <a:solidFill>
                  <a:srgbClr val="232323"/>
                </a:solidFill>
                <a:latin typeface="Grotesque" panose="020B0504020202020204" pitchFamily="34" charset="0"/>
                <a:ea typeface="Calibri" pitchFamily="34" charset="-122"/>
                <a:cs typeface="Calibri" pitchFamily="34" charset="-120"/>
              </a:rPr>
              <a:t>Your families, data and pipeline are yours throughout, and leave with you if we ever part.</a:t>
            </a:r>
            <a:endParaRPr lang="en-US" sz="1250" dirty="0">
              <a:latin typeface="Grotesque" panose="020B0504020202020204" pitchFamily="34" charset="0"/>
            </a:endParaRPr>
          </a:p>
        </p:txBody>
      </p:sp>
      <p:sp>
        <p:nvSpPr>
          <p:cNvPr id="17" name="Text 14"/>
          <p:cNvSpPr/>
          <p:nvPr/>
        </p:nvSpPr>
        <p:spPr>
          <a:xfrm>
            <a:off x="640080" y="6046470"/>
            <a:ext cx="10881360" cy="457200"/>
          </a:xfrm>
          <a:prstGeom prst="rect">
            <a:avLst/>
          </a:prstGeom>
          <a:noFill/>
          <a:ln/>
        </p:spPr>
        <p:txBody>
          <a:bodyPr wrap="square" lIns="0" tIns="0" rIns="0" bIns="0" rtlCol="0" anchor="ctr"/>
          <a:lstStyle/>
          <a:p>
            <a:pPr marL="0" indent="0">
              <a:buNone/>
            </a:pPr>
            <a:r>
              <a:rPr lang="en-US" sz="1450" i="1" dirty="0">
                <a:solidFill>
                  <a:srgbClr val="1E392A"/>
                </a:solidFill>
                <a:latin typeface="Cormorant Garamond" pitchFamily="2" charset="77"/>
                <a:ea typeface="Century Schoolbook" pitchFamily="34" charset="-122"/>
                <a:cs typeface="Century Schoolbook" pitchFamily="34" charset="-120"/>
              </a:rPr>
              <a:t>Every family our team meets goes into one process: we start from the pupil, and match them to the right school.</a:t>
            </a:r>
            <a:endParaRPr lang="en-US" sz="1450" dirty="0">
              <a:latin typeface="Cormorant Garamond" pitchFamily="2" charset="7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icons/Gold Transparent.png"/>
          <p:cNvPicPr>
            <a:picLocks noChangeAspect="1"/>
          </p:cNvPicPr>
          <p:nvPr/>
        </p:nvPicPr>
        <p:blipFill>
          <a:blip r:embed="rId3"/>
          <a:stretch>
            <a:fillRect/>
          </a:stretch>
        </p:blipFill>
        <p:spPr>
          <a:xfrm>
            <a:off x="11228832" y="411480"/>
            <a:ext cx="502920" cy="502920"/>
          </a:xfrm>
          <a:prstGeom prst="rect">
            <a:avLst/>
          </a:prstGeom>
        </p:spPr>
      </p:pic>
      <p:sp>
        <p:nvSpPr>
          <p:cNvPr id="3" name="Text 0"/>
          <p:cNvSpPr/>
          <p:nvPr/>
        </p:nvSpPr>
        <p:spPr>
          <a:xfrm>
            <a:off x="640080" y="384048"/>
            <a:ext cx="8686800" cy="320040"/>
          </a:xfrm>
          <a:prstGeom prst="rect">
            <a:avLst/>
          </a:prstGeom>
          <a:noFill/>
          <a:ln/>
        </p:spPr>
        <p:txBody>
          <a:bodyPr wrap="square" lIns="0" tIns="0" rIns="0" bIns="0" rtlCol="0" anchor="ctr"/>
          <a:lstStyle/>
          <a:p>
            <a:pPr marL="0" indent="0">
              <a:buNone/>
            </a:pPr>
            <a:r>
              <a:rPr lang="en-US" sz="1200" b="1" kern="0" spc="300" dirty="0">
                <a:solidFill>
                  <a:srgbClr val="B99A5B"/>
                </a:solidFill>
                <a:latin typeface="Grotesque" panose="020B0504020202020204" pitchFamily="34" charset="0"/>
                <a:ea typeface="Calibri" pitchFamily="34" charset="-122"/>
                <a:cs typeface="Calibri" pitchFamily="34" charset="-120"/>
              </a:rPr>
              <a:t>HOW IT WORKS</a:t>
            </a:r>
            <a:endParaRPr lang="en-US" sz="1200" dirty="0">
              <a:latin typeface="Grotesque" panose="020B0504020202020204" pitchFamily="34" charset="0"/>
            </a:endParaRPr>
          </a:p>
        </p:txBody>
      </p:sp>
      <p:sp>
        <p:nvSpPr>
          <p:cNvPr id="4" name="Text 1"/>
          <p:cNvSpPr/>
          <p:nvPr/>
        </p:nvSpPr>
        <p:spPr>
          <a:xfrm>
            <a:off x="640080" y="658368"/>
            <a:ext cx="10424160" cy="868680"/>
          </a:xfrm>
          <a:prstGeom prst="rect">
            <a:avLst/>
          </a:prstGeom>
          <a:noFill/>
          <a:ln/>
        </p:spPr>
        <p:txBody>
          <a:bodyPr wrap="square" lIns="0" tIns="0" rIns="0" bIns="0" rtlCol="0" anchor="ctr"/>
          <a:lstStyle/>
          <a:p>
            <a:pPr marL="0" indent="0">
              <a:buNone/>
            </a:pPr>
            <a:r>
              <a:rPr lang="en-US" sz="3600" b="1" dirty="0">
                <a:solidFill>
                  <a:srgbClr val="16331E"/>
                </a:solidFill>
                <a:latin typeface="Cormorant Garamond" pitchFamily="2" charset="77"/>
                <a:ea typeface="Century Schoolbook" pitchFamily="34" charset="-122"/>
                <a:cs typeface="Century Schoolbook" pitchFamily="34" charset="-120"/>
              </a:rPr>
              <a:t>From first enquiry to settled pupil</a:t>
            </a:r>
            <a:endParaRPr lang="en-US" sz="3600" dirty="0">
              <a:solidFill>
                <a:srgbClr val="16331E"/>
              </a:solidFill>
              <a:latin typeface="Cormorant Garamond" pitchFamily="2" charset="77"/>
            </a:endParaRPr>
          </a:p>
        </p:txBody>
      </p:sp>
      <p:sp>
        <p:nvSpPr>
          <p:cNvPr id="5" name="Shape 2"/>
          <p:cNvSpPr/>
          <p:nvPr/>
        </p:nvSpPr>
        <p:spPr>
          <a:xfrm>
            <a:off x="1325880" y="2103120"/>
            <a:ext cx="777240" cy="777240"/>
          </a:xfrm>
          <a:prstGeom prst="ellipse">
            <a:avLst/>
          </a:prstGeom>
          <a:solidFill>
            <a:srgbClr val="1E392A"/>
          </a:solidFill>
          <a:ln/>
        </p:spPr>
        <p:txBody>
          <a:bodyPr/>
          <a:lstStyle/>
          <a:p>
            <a:endParaRPr lang="en-GB" sz="2400"/>
          </a:p>
        </p:txBody>
      </p:sp>
      <p:sp>
        <p:nvSpPr>
          <p:cNvPr id="6" name="Text 3"/>
          <p:cNvSpPr/>
          <p:nvPr/>
        </p:nvSpPr>
        <p:spPr>
          <a:xfrm>
            <a:off x="1325880" y="2103120"/>
            <a:ext cx="777240" cy="777240"/>
          </a:xfrm>
          <a:prstGeom prst="rect">
            <a:avLst/>
          </a:prstGeom>
          <a:noFill/>
          <a:ln/>
        </p:spPr>
        <p:txBody>
          <a:bodyPr wrap="square" lIns="0" tIns="0" rIns="0" bIns="0" rtlCol="0" anchor="ctr"/>
          <a:lstStyle/>
          <a:p>
            <a:pPr marL="0" indent="0" algn="ctr">
              <a:buNone/>
            </a:pPr>
            <a:r>
              <a:rPr lang="en-US" sz="2200" b="1" dirty="0">
                <a:solidFill>
                  <a:srgbClr val="B99A5B"/>
                </a:solidFill>
                <a:latin typeface="Cormorant Garamond" pitchFamily="2" charset="77"/>
                <a:ea typeface="Century Schoolbook" pitchFamily="34" charset="-122"/>
                <a:cs typeface="Century Schoolbook" pitchFamily="34" charset="-120"/>
              </a:rPr>
              <a:t>1</a:t>
            </a:r>
            <a:endParaRPr lang="en-US" sz="2200" dirty="0">
              <a:latin typeface="Cormorant Garamond" pitchFamily="2" charset="77"/>
            </a:endParaRPr>
          </a:p>
        </p:txBody>
      </p:sp>
      <p:sp>
        <p:nvSpPr>
          <p:cNvPr id="7" name="Text 4"/>
          <p:cNvSpPr/>
          <p:nvPr/>
        </p:nvSpPr>
        <p:spPr>
          <a:xfrm>
            <a:off x="640080" y="3063240"/>
            <a:ext cx="2148840" cy="411480"/>
          </a:xfrm>
          <a:prstGeom prst="rect">
            <a:avLst/>
          </a:prstGeom>
          <a:noFill/>
          <a:ln/>
        </p:spPr>
        <p:txBody>
          <a:bodyPr wrap="square" lIns="0" tIns="0" rIns="0" bIns="0" rtlCol="0" anchor="ctr"/>
          <a:lstStyle/>
          <a:p>
            <a:pPr marL="0" indent="0" algn="ctr">
              <a:buNone/>
            </a:pPr>
            <a:r>
              <a:rPr lang="en-US" sz="2000" b="1" dirty="0">
                <a:solidFill>
                  <a:srgbClr val="1E392A"/>
                </a:solidFill>
                <a:latin typeface="Cormorant Garamond" pitchFamily="2" charset="77"/>
                <a:ea typeface="Century Schoolbook" pitchFamily="34" charset="-122"/>
                <a:cs typeface="Century Schoolbook" pitchFamily="34" charset="-120"/>
              </a:rPr>
              <a:t>Strategy</a:t>
            </a:r>
            <a:endParaRPr lang="en-US" sz="2000" dirty="0">
              <a:latin typeface="Cormorant Garamond" pitchFamily="2" charset="77"/>
            </a:endParaRPr>
          </a:p>
        </p:txBody>
      </p:sp>
      <p:sp>
        <p:nvSpPr>
          <p:cNvPr id="8" name="Text 5"/>
          <p:cNvSpPr/>
          <p:nvPr/>
        </p:nvSpPr>
        <p:spPr>
          <a:xfrm>
            <a:off x="713232" y="3520440"/>
            <a:ext cx="2011680" cy="1554480"/>
          </a:xfrm>
          <a:prstGeom prst="rect">
            <a:avLst/>
          </a:prstGeom>
          <a:noFill/>
          <a:ln/>
        </p:spPr>
        <p:txBody>
          <a:bodyPr wrap="square" lIns="0" tIns="0" rIns="0" bIns="0" rtlCol="0" anchor="ctr"/>
          <a:lstStyle/>
          <a:p>
            <a:pPr marL="0" indent="0" algn="ctr">
              <a:buNone/>
            </a:pPr>
            <a:r>
              <a:rPr lang="en-US" sz="1150" dirty="0">
                <a:solidFill>
                  <a:srgbClr val="232323"/>
                </a:solidFill>
                <a:latin typeface="Grotesque" panose="020B0504020202020204" pitchFamily="34" charset="0"/>
                <a:ea typeface="Calibri" pitchFamily="34" charset="-122"/>
                <a:cs typeface="Calibri" pitchFamily="34" charset="-120"/>
              </a:rPr>
              <a:t>Markets, profile and channel priorities agreed with you</a:t>
            </a:r>
            <a:endParaRPr lang="en-US" sz="1150" dirty="0">
              <a:latin typeface="Grotesque" panose="020B0504020202020204" pitchFamily="34" charset="0"/>
            </a:endParaRPr>
          </a:p>
        </p:txBody>
      </p:sp>
      <p:sp>
        <p:nvSpPr>
          <p:cNvPr id="9" name="Shape 6"/>
          <p:cNvSpPr/>
          <p:nvPr/>
        </p:nvSpPr>
        <p:spPr>
          <a:xfrm>
            <a:off x="3538728" y="2103120"/>
            <a:ext cx="777240" cy="777240"/>
          </a:xfrm>
          <a:prstGeom prst="ellipse">
            <a:avLst/>
          </a:prstGeom>
          <a:solidFill>
            <a:srgbClr val="1E392A"/>
          </a:solidFill>
          <a:ln/>
        </p:spPr>
        <p:txBody>
          <a:bodyPr/>
          <a:lstStyle/>
          <a:p>
            <a:endParaRPr lang="en-GB" sz="2400"/>
          </a:p>
        </p:txBody>
      </p:sp>
      <p:sp>
        <p:nvSpPr>
          <p:cNvPr id="10" name="Text 7"/>
          <p:cNvSpPr/>
          <p:nvPr/>
        </p:nvSpPr>
        <p:spPr>
          <a:xfrm>
            <a:off x="3538728" y="2103120"/>
            <a:ext cx="777240" cy="777240"/>
          </a:xfrm>
          <a:prstGeom prst="rect">
            <a:avLst/>
          </a:prstGeom>
          <a:noFill/>
          <a:ln/>
        </p:spPr>
        <p:txBody>
          <a:bodyPr wrap="square" lIns="0" tIns="0" rIns="0" bIns="0" rtlCol="0" anchor="ctr"/>
          <a:lstStyle/>
          <a:p>
            <a:pPr marL="0" indent="0" algn="ctr">
              <a:buNone/>
            </a:pPr>
            <a:r>
              <a:rPr lang="en-US" sz="2200" b="1" dirty="0">
                <a:solidFill>
                  <a:srgbClr val="B99A5B"/>
                </a:solidFill>
                <a:latin typeface="Cormorant Garamond" pitchFamily="2" charset="77"/>
                <a:ea typeface="Century Schoolbook" pitchFamily="34" charset="-122"/>
                <a:cs typeface="Century Schoolbook" pitchFamily="34" charset="-120"/>
              </a:rPr>
              <a:t>2</a:t>
            </a:r>
            <a:endParaRPr lang="en-US" sz="2200" dirty="0">
              <a:latin typeface="Cormorant Garamond" pitchFamily="2" charset="77"/>
            </a:endParaRPr>
          </a:p>
        </p:txBody>
      </p:sp>
      <p:sp>
        <p:nvSpPr>
          <p:cNvPr id="11" name="Text 8"/>
          <p:cNvSpPr/>
          <p:nvPr/>
        </p:nvSpPr>
        <p:spPr>
          <a:xfrm>
            <a:off x="2852928" y="3063240"/>
            <a:ext cx="2148840" cy="411480"/>
          </a:xfrm>
          <a:prstGeom prst="rect">
            <a:avLst/>
          </a:prstGeom>
          <a:noFill/>
          <a:ln/>
        </p:spPr>
        <p:txBody>
          <a:bodyPr wrap="square" lIns="0" tIns="0" rIns="0" bIns="0" rtlCol="0" anchor="ctr"/>
          <a:lstStyle/>
          <a:p>
            <a:pPr marL="0" indent="0" algn="ctr">
              <a:buNone/>
            </a:pPr>
            <a:r>
              <a:rPr lang="en-US" sz="2000" b="1" dirty="0">
                <a:solidFill>
                  <a:srgbClr val="1E392A"/>
                </a:solidFill>
                <a:latin typeface="Cormorant Garamond" pitchFamily="2" charset="77"/>
                <a:ea typeface="Century Schoolbook" pitchFamily="34" charset="-122"/>
                <a:cs typeface="Century Schoolbook" pitchFamily="34" charset="-120"/>
              </a:rPr>
              <a:t>Agents</a:t>
            </a:r>
            <a:endParaRPr lang="en-US" sz="2000" dirty="0">
              <a:latin typeface="Cormorant Garamond" pitchFamily="2" charset="77"/>
            </a:endParaRPr>
          </a:p>
        </p:txBody>
      </p:sp>
      <p:sp>
        <p:nvSpPr>
          <p:cNvPr id="12" name="Text 9"/>
          <p:cNvSpPr/>
          <p:nvPr/>
        </p:nvSpPr>
        <p:spPr>
          <a:xfrm>
            <a:off x="2926080" y="3520440"/>
            <a:ext cx="2011680" cy="1554480"/>
          </a:xfrm>
          <a:prstGeom prst="rect">
            <a:avLst/>
          </a:prstGeom>
          <a:noFill/>
          <a:ln/>
        </p:spPr>
        <p:txBody>
          <a:bodyPr wrap="square" lIns="0" tIns="0" rIns="0" bIns="0" rtlCol="0" anchor="ctr"/>
          <a:lstStyle/>
          <a:p>
            <a:pPr marL="0" indent="0" algn="ctr">
              <a:buNone/>
            </a:pPr>
            <a:r>
              <a:rPr lang="en-US" sz="1150" dirty="0">
                <a:solidFill>
                  <a:srgbClr val="232323"/>
                </a:solidFill>
                <a:latin typeface="Grotesque" panose="020B0504020202020204" pitchFamily="34" charset="0"/>
                <a:ea typeface="Calibri" pitchFamily="34" charset="-122"/>
                <a:cs typeface="Calibri" pitchFamily="34" charset="-120"/>
              </a:rPr>
              <a:t>Your network plus ours, trained and managed to one standard</a:t>
            </a:r>
            <a:endParaRPr lang="en-US" sz="1150" dirty="0">
              <a:latin typeface="Grotesque" panose="020B0504020202020204" pitchFamily="34" charset="0"/>
            </a:endParaRPr>
          </a:p>
        </p:txBody>
      </p:sp>
      <p:sp>
        <p:nvSpPr>
          <p:cNvPr id="13" name="Shape 10"/>
          <p:cNvSpPr/>
          <p:nvPr/>
        </p:nvSpPr>
        <p:spPr>
          <a:xfrm>
            <a:off x="5751576" y="2103120"/>
            <a:ext cx="777240" cy="777240"/>
          </a:xfrm>
          <a:prstGeom prst="ellipse">
            <a:avLst/>
          </a:prstGeom>
          <a:solidFill>
            <a:srgbClr val="1E392A"/>
          </a:solidFill>
          <a:ln/>
        </p:spPr>
        <p:txBody>
          <a:bodyPr/>
          <a:lstStyle/>
          <a:p>
            <a:endParaRPr lang="en-GB" sz="2400" dirty="0"/>
          </a:p>
        </p:txBody>
      </p:sp>
      <p:sp>
        <p:nvSpPr>
          <p:cNvPr id="14" name="Text 11"/>
          <p:cNvSpPr/>
          <p:nvPr/>
        </p:nvSpPr>
        <p:spPr>
          <a:xfrm>
            <a:off x="5751576" y="2103120"/>
            <a:ext cx="777240" cy="777240"/>
          </a:xfrm>
          <a:prstGeom prst="rect">
            <a:avLst/>
          </a:prstGeom>
          <a:noFill/>
          <a:ln/>
        </p:spPr>
        <p:txBody>
          <a:bodyPr wrap="square" lIns="0" tIns="0" rIns="0" bIns="0" rtlCol="0" anchor="ctr"/>
          <a:lstStyle/>
          <a:p>
            <a:pPr marL="0" indent="0" algn="ctr">
              <a:buNone/>
            </a:pPr>
            <a:r>
              <a:rPr lang="en-US" sz="2400" b="1" dirty="0">
                <a:solidFill>
                  <a:srgbClr val="B99A5B"/>
                </a:solidFill>
                <a:latin typeface="Cormorant Garamond" pitchFamily="2" charset="77"/>
                <a:ea typeface="Century Schoolbook" pitchFamily="34" charset="-122"/>
                <a:cs typeface="Century Schoolbook" pitchFamily="34" charset="-120"/>
              </a:rPr>
              <a:t>3</a:t>
            </a:r>
            <a:endParaRPr lang="en-US" sz="2400" dirty="0">
              <a:latin typeface="Cormorant Garamond" pitchFamily="2" charset="77"/>
            </a:endParaRPr>
          </a:p>
        </p:txBody>
      </p:sp>
      <p:sp>
        <p:nvSpPr>
          <p:cNvPr id="15" name="Text 12"/>
          <p:cNvSpPr/>
          <p:nvPr/>
        </p:nvSpPr>
        <p:spPr>
          <a:xfrm>
            <a:off x="5065776" y="3063240"/>
            <a:ext cx="2148840" cy="411480"/>
          </a:xfrm>
          <a:prstGeom prst="rect">
            <a:avLst/>
          </a:prstGeom>
          <a:noFill/>
          <a:ln/>
        </p:spPr>
        <p:txBody>
          <a:bodyPr wrap="square" lIns="0" tIns="0" rIns="0" bIns="0" rtlCol="0" anchor="ctr"/>
          <a:lstStyle/>
          <a:p>
            <a:pPr marL="0" indent="0" algn="ctr">
              <a:buNone/>
            </a:pPr>
            <a:r>
              <a:rPr lang="en-US" sz="2000" b="1" dirty="0">
                <a:solidFill>
                  <a:srgbClr val="1E392A"/>
                </a:solidFill>
                <a:latin typeface="Cormorant Garamond" pitchFamily="2" charset="77"/>
                <a:ea typeface="Century Schoolbook" pitchFamily="34" charset="-122"/>
                <a:cs typeface="Century Schoolbook" pitchFamily="34" charset="-120"/>
              </a:rPr>
              <a:t>Families</a:t>
            </a:r>
            <a:endParaRPr lang="en-US" sz="2000" dirty="0">
              <a:latin typeface="Cormorant Garamond" pitchFamily="2" charset="77"/>
            </a:endParaRPr>
          </a:p>
        </p:txBody>
      </p:sp>
      <p:sp>
        <p:nvSpPr>
          <p:cNvPr id="16" name="Text 13"/>
          <p:cNvSpPr/>
          <p:nvPr/>
        </p:nvSpPr>
        <p:spPr>
          <a:xfrm>
            <a:off x="5138928" y="3520440"/>
            <a:ext cx="2011680" cy="1554480"/>
          </a:xfrm>
          <a:prstGeom prst="rect">
            <a:avLst/>
          </a:prstGeom>
          <a:noFill/>
          <a:ln/>
        </p:spPr>
        <p:txBody>
          <a:bodyPr wrap="square" lIns="0" tIns="0" rIns="0" bIns="0" rtlCol="0" anchor="ctr"/>
          <a:lstStyle/>
          <a:p>
            <a:pPr marL="0" indent="0" algn="ctr">
              <a:buNone/>
            </a:pPr>
            <a:r>
              <a:rPr lang="en-US" sz="1150" dirty="0">
                <a:solidFill>
                  <a:srgbClr val="232323"/>
                </a:solidFill>
                <a:latin typeface="Grotesque" panose="020B0504020202020204" pitchFamily="34" charset="0"/>
                <a:ea typeface="Calibri" pitchFamily="34" charset="-122"/>
                <a:cs typeface="Calibri" pitchFamily="34" charset="-120"/>
              </a:rPr>
              <a:t>Leads generated and nurtured from enquiry to application</a:t>
            </a:r>
            <a:endParaRPr lang="en-US" sz="1150" dirty="0">
              <a:latin typeface="Grotesque" panose="020B0504020202020204" pitchFamily="34" charset="0"/>
            </a:endParaRPr>
          </a:p>
        </p:txBody>
      </p:sp>
      <p:sp>
        <p:nvSpPr>
          <p:cNvPr id="17" name="Shape 14"/>
          <p:cNvSpPr/>
          <p:nvPr/>
        </p:nvSpPr>
        <p:spPr>
          <a:xfrm>
            <a:off x="7964424" y="2103120"/>
            <a:ext cx="777240" cy="777240"/>
          </a:xfrm>
          <a:prstGeom prst="ellipse">
            <a:avLst/>
          </a:prstGeom>
          <a:solidFill>
            <a:srgbClr val="1E392A"/>
          </a:solidFill>
          <a:ln/>
        </p:spPr>
        <p:txBody>
          <a:bodyPr/>
          <a:lstStyle/>
          <a:p>
            <a:endParaRPr lang="en-GB" sz="2400"/>
          </a:p>
        </p:txBody>
      </p:sp>
      <p:sp>
        <p:nvSpPr>
          <p:cNvPr id="18" name="Text 15"/>
          <p:cNvSpPr/>
          <p:nvPr/>
        </p:nvSpPr>
        <p:spPr>
          <a:xfrm>
            <a:off x="7964424" y="2103120"/>
            <a:ext cx="777240" cy="777240"/>
          </a:xfrm>
          <a:prstGeom prst="rect">
            <a:avLst/>
          </a:prstGeom>
          <a:noFill/>
          <a:ln/>
        </p:spPr>
        <p:txBody>
          <a:bodyPr wrap="square" lIns="0" tIns="0" rIns="0" bIns="0" rtlCol="0" anchor="ctr"/>
          <a:lstStyle/>
          <a:p>
            <a:pPr marL="0" indent="0" algn="ctr">
              <a:buNone/>
            </a:pPr>
            <a:r>
              <a:rPr lang="en-US" sz="2200" b="1" dirty="0">
                <a:solidFill>
                  <a:srgbClr val="B99A5B"/>
                </a:solidFill>
                <a:latin typeface="Cormorant Garamond" pitchFamily="2" charset="77"/>
                <a:ea typeface="Century Schoolbook" pitchFamily="34" charset="-122"/>
                <a:cs typeface="Century Schoolbook" pitchFamily="34" charset="-120"/>
              </a:rPr>
              <a:t>4</a:t>
            </a:r>
            <a:endParaRPr lang="en-US" sz="2200" dirty="0">
              <a:latin typeface="Cormorant Garamond" pitchFamily="2" charset="77"/>
            </a:endParaRPr>
          </a:p>
        </p:txBody>
      </p:sp>
      <p:sp>
        <p:nvSpPr>
          <p:cNvPr id="19" name="Text 16"/>
          <p:cNvSpPr/>
          <p:nvPr/>
        </p:nvSpPr>
        <p:spPr>
          <a:xfrm>
            <a:off x="7278624" y="3063240"/>
            <a:ext cx="2148840" cy="411480"/>
          </a:xfrm>
          <a:prstGeom prst="rect">
            <a:avLst/>
          </a:prstGeom>
          <a:noFill/>
          <a:ln/>
        </p:spPr>
        <p:txBody>
          <a:bodyPr wrap="square" lIns="0" tIns="0" rIns="0" bIns="0" rtlCol="0" anchor="ctr"/>
          <a:lstStyle/>
          <a:p>
            <a:pPr marL="0" indent="0" algn="ctr">
              <a:buNone/>
            </a:pPr>
            <a:r>
              <a:rPr lang="en-US" sz="2000" b="1" dirty="0">
                <a:solidFill>
                  <a:srgbClr val="1E392A"/>
                </a:solidFill>
                <a:latin typeface="Cormorant Garamond" pitchFamily="2" charset="77"/>
                <a:ea typeface="Century Schoolbook" pitchFamily="34" charset="-122"/>
                <a:cs typeface="Century Schoolbook" pitchFamily="34" charset="-120"/>
              </a:rPr>
              <a:t>Enrolment</a:t>
            </a:r>
            <a:endParaRPr lang="en-US" sz="2000" dirty="0">
              <a:latin typeface="Cormorant Garamond" pitchFamily="2" charset="77"/>
            </a:endParaRPr>
          </a:p>
        </p:txBody>
      </p:sp>
      <p:sp>
        <p:nvSpPr>
          <p:cNvPr id="20" name="Text 17"/>
          <p:cNvSpPr/>
          <p:nvPr/>
        </p:nvSpPr>
        <p:spPr>
          <a:xfrm>
            <a:off x="7351776" y="3520440"/>
            <a:ext cx="2011680" cy="1554480"/>
          </a:xfrm>
          <a:prstGeom prst="rect">
            <a:avLst/>
          </a:prstGeom>
          <a:noFill/>
          <a:ln/>
        </p:spPr>
        <p:txBody>
          <a:bodyPr wrap="square" lIns="0" tIns="0" rIns="0" bIns="0" rtlCol="0" anchor="ctr"/>
          <a:lstStyle/>
          <a:p>
            <a:pPr marL="0" indent="0" algn="ctr">
              <a:buNone/>
            </a:pPr>
            <a:r>
              <a:rPr lang="en-US" sz="1150" dirty="0">
                <a:solidFill>
                  <a:srgbClr val="232323"/>
                </a:solidFill>
                <a:latin typeface="Grotesque" panose="020B0504020202020204" pitchFamily="34" charset="0"/>
                <a:ea typeface="Calibri" pitchFamily="34" charset="-122"/>
                <a:cs typeface="Calibri" pitchFamily="34" charset="-120"/>
              </a:rPr>
              <a:t>Applications, assessment and conversion, with you approving every offer</a:t>
            </a:r>
            <a:endParaRPr lang="en-US" sz="1150" dirty="0">
              <a:latin typeface="Grotesque" panose="020B0504020202020204" pitchFamily="34" charset="0"/>
            </a:endParaRPr>
          </a:p>
        </p:txBody>
      </p:sp>
      <p:sp>
        <p:nvSpPr>
          <p:cNvPr id="21" name="Shape 18"/>
          <p:cNvSpPr/>
          <p:nvPr/>
        </p:nvSpPr>
        <p:spPr>
          <a:xfrm>
            <a:off x="10177272" y="2103120"/>
            <a:ext cx="777240" cy="777240"/>
          </a:xfrm>
          <a:prstGeom prst="ellipse">
            <a:avLst/>
          </a:prstGeom>
          <a:solidFill>
            <a:srgbClr val="1E392A"/>
          </a:solidFill>
          <a:ln/>
        </p:spPr>
        <p:txBody>
          <a:bodyPr/>
          <a:lstStyle/>
          <a:p>
            <a:endParaRPr lang="en-GB" sz="2400"/>
          </a:p>
        </p:txBody>
      </p:sp>
      <p:sp>
        <p:nvSpPr>
          <p:cNvPr id="22" name="Text 19"/>
          <p:cNvSpPr/>
          <p:nvPr/>
        </p:nvSpPr>
        <p:spPr>
          <a:xfrm>
            <a:off x="10177272" y="2103120"/>
            <a:ext cx="777240" cy="777240"/>
          </a:xfrm>
          <a:prstGeom prst="rect">
            <a:avLst/>
          </a:prstGeom>
          <a:noFill/>
          <a:ln/>
        </p:spPr>
        <p:txBody>
          <a:bodyPr wrap="square" lIns="0" tIns="0" rIns="0" bIns="0" rtlCol="0" anchor="ctr"/>
          <a:lstStyle/>
          <a:p>
            <a:pPr marL="0" indent="0" algn="ctr">
              <a:buNone/>
            </a:pPr>
            <a:r>
              <a:rPr lang="en-US" sz="2200" b="1" dirty="0">
                <a:solidFill>
                  <a:srgbClr val="B99A5B"/>
                </a:solidFill>
                <a:latin typeface="Cormorant Garamond" pitchFamily="2" charset="77"/>
                <a:ea typeface="Century Schoolbook" pitchFamily="34" charset="-122"/>
                <a:cs typeface="Century Schoolbook" pitchFamily="34" charset="-120"/>
              </a:rPr>
              <a:t>5</a:t>
            </a:r>
            <a:endParaRPr lang="en-US" sz="2200" dirty="0">
              <a:latin typeface="Cormorant Garamond" pitchFamily="2" charset="77"/>
            </a:endParaRPr>
          </a:p>
        </p:txBody>
      </p:sp>
      <p:sp>
        <p:nvSpPr>
          <p:cNvPr id="23" name="Text 20"/>
          <p:cNvSpPr/>
          <p:nvPr/>
        </p:nvSpPr>
        <p:spPr>
          <a:xfrm>
            <a:off x="9491472" y="3063240"/>
            <a:ext cx="2148840" cy="411480"/>
          </a:xfrm>
          <a:prstGeom prst="rect">
            <a:avLst/>
          </a:prstGeom>
          <a:noFill/>
          <a:ln/>
        </p:spPr>
        <p:txBody>
          <a:bodyPr wrap="square" lIns="0" tIns="0" rIns="0" bIns="0" rtlCol="0" anchor="ctr"/>
          <a:lstStyle/>
          <a:p>
            <a:pPr marL="0" indent="0" algn="ctr">
              <a:buNone/>
            </a:pPr>
            <a:r>
              <a:rPr lang="en-US" sz="2000" b="1" dirty="0">
                <a:solidFill>
                  <a:srgbClr val="1E392A"/>
                </a:solidFill>
                <a:latin typeface="Cormorant Garamond" pitchFamily="2" charset="77"/>
                <a:ea typeface="Century Schoolbook" pitchFamily="34" charset="-122"/>
                <a:cs typeface="Century Schoolbook" pitchFamily="34" charset="-120"/>
              </a:rPr>
              <a:t>Settling</a:t>
            </a:r>
            <a:endParaRPr lang="en-US" sz="2000" dirty="0">
              <a:latin typeface="Cormorant Garamond" pitchFamily="2" charset="77"/>
            </a:endParaRPr>
          </a:p>
        </p:txBody>
      </p:sp>
      <p:sp>
        <p:nvSpPr>
          <p:cNvPr id="24" name="Text 21"/>
          <p:cNvSpPr/>
          <p:nvPr/>
        </p:nvSpPr>
        <p:spPr>
          <a:xfrm>
            <a:off x="9564624" y="3520440"/>
            <a:ext cx="2011680" cy="1554480"/>
          </a:xfrm>
          <a:prstGeom prst="rect">
            <a:avLst/>
          </a:prstGeom>
          <a:noFill/>
          <a:ln/>
        </p:spPr>
        <p:txBody>
          <a:bodyPr wrap="square" lIns="0" tIns="0" rIns="0" bIns="0" rtlCol="0" anchor="ctr"/>
          <a:lstStyle/>
          <a:p>
            <a:pPr marL="0" indent="0" algn="ctr">
              <a:buNone/>
            </a:pPr>
            <a:r>
              <a:rPr lang="en-US" sz="1150" dirty="0">
                <a:solidFill>
                  <a:srgbClr val="232323"/>
                </a:solidFill>
                <a:latin typeface="Grotesque" panose="020B0504020202020204" pitchFamily="34" charset="0"/>
                <a:ea typeface="Calibri" pitchFamily="34" charset="-122"/>
                <a:cs typeface="Calibri" pitchFamily="34" charset="-120"/>
              </a:rPr>
              <a:t>Pre-arrival, guardianship support and follow-up into the year</a:t>
            </a:r>
            <a:endParaRPr lang="en-US" sz="1150" dirty="0">
              <a:latin typeface="Grotesque" panose="020B0504020202020204" pitchFamily="34" charset="0"/>
            </a:endParaRPr>
          </a:p>
        </p:txBody>
      </p:sp>
      <p:sp>
        <p:nvSpPr>
          <p:cNvPr id="25" name="Text 22"/>
          <p:cNvSpPr/>
          <p:nvPr/>
        </p:nvSpPr>
        <p:spPr>
          <a:xfrm>
            <a:off x="640080" y="5577840"/>
            <a:ext cx="10881360" cy="548640"/>
          </a:xfrm>
          <a:prstGeom prst="rect">
            <a:avLst/>
          </a:prstGeom>
          <a:noFill/>
          <a:ln/>
        </p:spPr>
        <p:txBody>
          <a:bodyPr wrap="square" lIns="0" tIns="0" rIns="0" bIns="0" rtlCol="0" anchor="ctr"/>
          <a:lstStyle/>
          <a:p>
            <a:pPr marL="0" indent="0">
              <a:buNone/>
            </a:pPr>
            <a:r>
              <a:rPr lang="en-US" i="1" dirty="0">
                <a:solidFill>
                  <a:srgbClr val="1E392A"/>
                </a:solidFill>
                <a:latin typeface="Cormorant Garamond" pitchFamily="2" charset="77"/>
                <a:ea typeface="Century Schoolbook" pitchFamily="34" charset="-122"/>
                <a:cs typeface="Century Schoolbook" pitchFamily="34" charset="-120"/>
              </a:rPr>
              <a:t>Paid across the pupil's enrolment, not once at entry, so BEP is invested in pupils staying and thriving, not only arriving.</a:t>
            </a:r>
            <a:endParaRPr lang="en-US" dirty="0">
              <a:latin typeface="Cormorant Garamond" pitchFamily="2" charset="77"/>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icons/Gold Transparent.png"/>
          <p:cNvPicPr>
            <a:picLocks noChangeAspect="1"/>
          </p:cNvPicPr>
          <p:nvPr/>
        </p:nvPicPr>
        <p:blipFill>
          <a:blip r:embed="rId3"/>
          <a:stretch>
            <a:fillRect/>
          </a:stretch>
        </p:blipFill>
        <p:spPr>
          <a:xfrm>
            <a:off x="11228832" y="411480"/>
            <a:ext cx="502920" cy="502920"/>
          </a:xfrm>
          <a:prstGeom prst="rect">
            <a:avLst/>
          </a:prstGeom>
        </p:spPr>
      </p:pic>
      <p:sp>
        <p:nvSpPr>
          <p:cNvPr id="3" name="Text 0"/>
          <p:cNvSpPr/>
          <p:nvPr/>
        </p:nvSpPr>
        <p:spPr>
          <a:xfrm>
            <a:off x="640080" y="384048"/>
            <a:ext cx="8686800" cy="320040"/>
          </a:xfrm>
          <a:prstGeom prst="rect">
            <a:avLst/>
          </a:prstGeom>
          <a:noFill/>
          <a:ln/>
        </p:spPr>
        <p:txBody>
          <a:bodyPr wrap="square" lIns="0" tIns="0" rIns="0" bIns="0" rtlCol="0" anchor="ctr"/>
          <a:lstStyle/>
          <a:p>
            <a:pPr marL="0" indent="0">
              <a:buNone/>
            </a:pPr>
            <a:r>
              <a:rPr lang="en-US" sz="1200" b="1" kern="0" spc="300" dirty="0">
                <a:solidFill>
                  <a:srgbClr val="B99A5B"/>
                </a:solidFill>
                <a:latin typeface="Grotesque" panose="020B0504020202020204" pitchFamily="34" charset="0"/>
                <a:ea typeface="Calibri" pitchFamily="34" charset="-122"/>
                <a:cs typeface="Calibri" pitchFamily="34" charset="-120"/>
              </a:rPr>
              <a:t>WORKING TOGETHER</a:t>
            </a:r>
            <a:endParaRPr lang="en-US" sz="1200" dirty="0">
              <a:latin typeface="Grotesque" panose="020B0504020202020204" pitchFamily="34" charset="0"/>
            </a:endParaRPr>
          </a:p>
        </p:txBody>
      </p:sp>
      <p:sp>
        <p:nvSpPr>
          <p:cNvPr id="4" name="Text 1"/>
          <p:cNvSpPr/>
          <p:nvPr/>
        </p:nvSpPr>
        <p:spPr>
          <a:xfrm>
            <a:off x="640080" y="658368"/>
            <a:ext cx="10424160" cy="868680"/>
          </a:xfrm>
          <a:prstGeom prst="rect">
            <a:avLst/>
          </a:prstGeom>
          <a:noFill/>
          <a:ln/>
        </p:spPr>
        <p:txBody>
          <a:bodyPr wrap="square" lIns="0" tIns="0" rIns="0" bIns="0" rtlCol="0" anchor="ctr"/>
          <a:lstStyle/>
          <a:p>
            <a:pPr marL="0" indent="0">
              <a:buNone/>
            </a:pPr>
            <a:r>
              <a:rPr lang="en-US" sz="3600" b="1" dirty="0">
                <a:solidFill>
                  <a:srgbClr val="16331E"/>
                </a:solidFill>
                <a:latin typeface="Cormorant Garamond" pitchFamily="2" charset="77"/>
                <a:ea typeface="Century Schoolbook" pitchFamily="34" charset="-122"/>
                <a:cs typeface="Century Schoolbook" pitchFamily="34" charset="-120"/>
              </a:rPr>
              <a:t>Two ways to partner with BEP</a:t>
            </a:r>
            <a:endParaRPr lang="en-US" sz="3600" dirty="0">
              <a:solidFill>
                <a:srgbClr val="16331E"/>
              </a:solidFill>
              <a:latin typeface="Cormorant Garamond" pitchFamily="2" charset="77"/>
            </a:endParaRPr>
          </a:p>
        </p:txBody>
      </p:sp>
      <p:sp>
        <p:nvSpPr>
          <p:cNvPr id="5" name="Shape 2"/>
          <p:cNvSpPr/>
          <p:nvPr/>
        </p:nvSpPr>
        <p:spPr>
          <a:xfrm>
            <a:off x="640080" y="1828800"/>
            <a:ext cx="5394960" cy="3794760"/>
          </a:xfrm>
          <a:prstGeom prst="roundRect">
            <a:avLst>
              <a:gd name="adj" fmla="val 1928"/>
            </a:avLst>
          </a:prstGeom>
          <a:solidFill>
            <a:srgbClr val="16331E"/>
          </a:solidFill>
          <a:ln/>
        </p:spPr>
        <p:txBody>
          <a:bodyPr/>
          <a:lstStyle/>
          <a:p>
            <a:endParaRPr lang="en-GB" dirty="0"/>
          </a:p>
        </p:txBody>
      </p:sp>
      <p:sp>
        <p:nvSpPr>
          <p:cNvPr id="6" name="Text 3"/>
          <p:cNvSpPr/>
          <p:nvPr/>
        </p:nvSpPr>
        <p:spPr>
          <a:xfrm>
            <a:off x="1005840" y="2148840"/>
            <a:ext cx="4663440" cy="457200"/>
          </a:xfrm>
          <a:prstGeom prst="rect">
            <a:avLst/>
          </a:prstGeom>
          <a:noFill/>
          <a:ln/>
        </p:spPr>
        <p:txBody>
          <a:bodyPr wrap="square" lIns="0" tIns="0" rIns="0" bIns="0" rtlCol="0" anchor="ctr"/>
          <a:lstStyle/>
          <a:p>
            <a:pPr marL="0" indent="0">
              <a:buNone/>
            </a:pPr>
            <a:r>
              <a:rPr lang="en-US" sz="2400" b="1" dirty="0">
                <a:solidFill>
                  <a:srgbClr val="FFFFFF"/>
                </a:solidFill>
                <a:latin typeface="Cormorant Garamond" pitchFamily="2" charset="77"/>
                <a:ea typeface="Century Schoolbook" pitchFamily="34" charset="-122"/>
                <a:cs typeface="Century Schoolbook" pitchFamily="34" charset="-120"/>
              </a:rPr>
              <a:t>Fixed Retainer</a:t>
            </a:r>
            <a:endParaRPr lang="en-US" sz="2400" dirty="0">
              <a:latin typeface="Cormorant Garamond" pitchFamily="2" charset="77"/>
            </a:endParaRPr>
          </a:p>
        </p:txBody>
      </p:sp>
      <p:sp>
        <p:nvSpPr>
          <p:cNvPr id="7" name="Text 4"/>
          <p:cNvSpPr/>
          <p:nvPr/>
        </p:nvSpPr>
        <p:spPr>
          <a:xfrm>
            <a:off x="1005840" y="2697480"/>
            <a:ext cx="4663440" cy="731520"/>
          </a:xfrm>
          <a:prstGeom prst="rect">
            <a:avLst/>
          </a:prstGeom>
          <a:noFill/>
          <a:ln/>
        </p:spPr>
        <p:txBody>
          <a:bodyPr wrap="square" lIns="0" tIns="0" rIns="0" bIns="0" rtlCol="0" anchor="ctr"/>
          <a:lstStyle/>
          <a:p>
            <a:pPr marL="0" indent="0">
              <a:buNone/>
            </a:pPr>
            <a:r>
              <a:rPr lang="en-US" sz="1300" dirty="0">
                <a:solidFill>
                  <a:srgbClr val="F1EDE3"/>
                </a:solidFill>
                <a:latin typeface="Grotesque" panose="020B0504020202020204" pitchFamily="34" charset="0"/>
                <a:ea typeface="Calibri" pitchFamily="34" charset="-122"/>
                <a:cs typeface="Calibri" pitchFamily="34" charset="-120"/>
              </a:rPr>
              <a:t>For schools with strong existing demand that want BEP to operate or scaffold the function.</a:t>
            </a:r>
          </a:p>
          <a:p>
            <a:pPr marL="0" indent="0">
              <a:buNone/>
            </a:pPr>
            <a:endParaRPr lang="en-US" sz="1300" dirty="0">
              <a:solidFill>
                <a:srgbClr val="F1EDE3"/>
              </a:solidFill>
              <a:latin typeface="Grotesque" panose="020B0504020202020204" pitchFamily="34" charset="0"/>
              <a:ea typeface="Calibri" pitchFamily="34" charset="-122"/>
              <a:cs typeface="Calibri" pitchFamily="34" charset="-120"/>
            </a:endParaRPr>
          </a:p>
        </p:txBody>
      </p:sp>
      <p:sp>
        <p:nvSpPr>
          <p:cNvPr id="8" name="Text 5"/>
          <p:cNvSpPr/>
          <p:nvPr/>
        </p:nvSpPr>
        <p:spPr>
          <a:xfrm>
            <a:off x="1005840" y="3611880"/>
            <a:ext cx="4663440" cy="1737360"/>
          </a:xfrm>
          <a:prstGeom prst="rect">
            <a:avLst/>
          </a:prstGeom>
          <a:noFill/>
          <a:ln/>
        </p:spPr>
        <p:txBody>
          <a:bodyPr wrap="square" lIns="0" tIns="0" rIns="0" bIns="0" rtlCol="0" anchor="ctr"/>
          <a:lstStyle/>
          <a:p>
            <a:pPr marL="0" indent="0">
              <a:buNone/>
            </a:pPr>
            <a:r>
              <a:rPr lang="en-US" sz="1350" b="1" dirty="0">
                <a:solidFill>
                  <a:srgbClr val="B99A5B"/>
                </a:solidFill>
                <a:latin typeface="Grotesque" panose="020B0504020202020204" pitchFamily="34" charset="0"/>
                <a:ea typeface="Calibri" pitchFamily="34" charset="-122"/>
                <a:cs typeface="Calibri" pitchFamily="34" charset="-120"/>
              </a:rPr>
              <a:t>Ideal for schools that want to widen their agency network across global markets and pay a  fixed  monthly fee.</a:t>
            </a:r>
          </a:p>
        </p:txBody>
      </p:sp>
      <p:sp>
        <p:nvSpPr>
          <p:cNvPr id="9" name="Shape 6"/>
          <p:cNvSpPr/>
          <p:nvPr/>
        </p:nvSpPr>
        <p:spPr>
          <a:xfrm>
            <a:off x="6263640" y="1828800"/>
            <a:ext cx="5394960" cy="3794760"/>
          </a:xfrm>
          <a:prstGeom prst="roundRect">
            <a:avLst>
              <a:gd name="adj" fmla="val 1928"/>
            </a:avLst>
          </a:prstGeom>
          <a:solidFill>
            <a:srgbClr val="F1EDE3"/>
          </a:solidFill>
          <a:ln/>
        </p:spPr>
        <p:txBody>
          <a:bodyPr/>
          <a:lstStyle/>
          <a:p>
            <a:endParaRPr lang="en-GB"/>
          </a:p>
        </p:txBody>
      </p:sp>
      <p:sp>
        <p:nvSpPr>
          <p:cNvPr id="10" name="Text 7"/>
          <p:cNvSpPr/>
          <p:nvPr/>
        </p:nvSpPr>
        <p:spPr>
          <a:xfrm>
            <a:off x="6629400" y="2148840"/>
            <a:ext cx="4663440" cy="457200"/>
          </a:xfrm>
          <a:prstGeom prst="rect">
            <a:avLst/>
          </a:prstGeom>
          <a:noFill/>
          <a:ln/>
        </p:spPr>
        <p:txBody>
          <a:bodyPr wrap="square" lIns="0" tIns="0" rIns="0" bIns="0" rtlCol="0" anchor="ctr"/>
          <a:lstStyle/>
          <a:p>
            <a:pPr marL="0" indent="0">
              <a:buNone/>
            </a:pPr>
            <a:r>
              <a:rPr lang="en-US" sz="2400" b="1" dirty="0">
                <a:solidFill>
                  <a:srgbClr val="1E392A"/>
                </a:solidFill>
                <a:latin typeface="Cormorant Garamond" pitchFamily="2" charset="77"/>
                <a:ea typeface="Century Schoolbook" pitchFamily="34" charset="-122"/>
                <a:cs typeface="Century Schoolbook" pitchFamily="34" charset="-120"/>
              </a:rPr>
              <a:t>Performance Partnership</a:t>
            </a:r>
            <a:endParaRPr lang="en-US" sz="2400" dirty="0">
              <a:latin typeface="Cormorant Garamond" pitchFamily="2" charset="77"/>
            </a:endParaRPr>
          </a:p>
        </p:txBody>
      </p:sp>
      <p:sp>
        <p:nvSpPr>
          <p:cNvPr id="11" name="Text 8"/>
          <p:cNvSpPr/>
          <p:nvPr/>
        </p:nvSpPr>
        <p:spPr>
          <a:xfrm>
            <a:off x="6629400" y="2697480"/>
            <a:ext cx="4663440" cy="1005840"/>
          </a:xfrm>
          <a:prstGeom prst="rect">
            <a:avLst/>
          </a:prstGeom>
          <a:noFill/>
          <a:ln/>
        </p:spPr>
        <p:txBody>
          <a:bodyPr wrap="square" lIns="0" tIns="0" rIns="0" bIns="0" rtlCol="0" anchor="ctr"/>
          <a:lstStyle/>
          <a:p>
            <a:pPr marL="0" indent="0">
              <a:buNone/>
            </a:pPr>
            <a:r>
              <a:rPr lang="en-US" sz="1300" dirty="0">
                <a:solidFill>
                  <a:srgbClr val="232323"/>
                </a:solidFill>
                <a:latin typeface="Grotesque" panose="020B0504020202020204" pitchFamily="34" charset="0"/>
                <a:ea typeface="Calibri" pitchFamily="34" charset="-122"/>
                <a:cs typeface="Calibri" pitchFamily="34" charset="-120"/>
              </a:rPr>
              <a:t>No upfront fee at all. BEP earns a share of fee income only on new international enrolments, across the pupil's time with you.</a:t>
            </a:r>
            <a:endParaRPr lang="en-US" sz="1300" dirty="0">
              <a:latin typeface="Grotesque" panose="020B0504020202020204" pitchFamily="34" charset="0"/>
            </a:endParaRPr>
          </a:p>
        </p:txBody>
      </p:sp>
      <p:sp>
        <p:nvSpPr>
          <p:cNvPr id="12" name="Text 9"/>
          <p:cNvSpPr/>
          <p:nvPr/>
        </p:nvSpPr>
        <p:spPr>
          <a:xfrm>
            <a:off x="6629400" y="3840480"/>
            <a:ext cx="4663440" cy="822960"/>
          </a:xfrm>
          <a:prstGeom prst="rect">
            <a:avLst/>
          </a:prstGeom>
          <a:noFill/>
          <a:ln/>
        </p:spPr>
        <p:txBody>
          <a:bodyPr wrap="square" lIns="0" tIns="0" rIns="0" bIns="0" rtlCol="0" anchor="ctr"/>
          <a:lstStyle/>
          <a:p>
            <a:pPr marL="285750" indent="-285750">
              <a:buFont typeface="Arial" panose="020B0604020202020204" pitchFamily="34" charset="0"/>
              <a:buChar char="•"/>
            </a:pPr>
            <a:endParaRPr lang="en-US" sz="1350" dirty="0"/>
          </a:p>
        </p:txBody>
      </p:sp>
      <p:sp>
        <p:nvSpPr>
          <p:cNvPr id="13" name="Text 10"/>
          <p:cNvSpPr/>
          <p:nvPr/>
        </p:nvSpPr>
        <p:spPr>
          <a:xfrm>
            <a:off x="640080" y="5897880"/>
            <a:ext cx="10881360" cy="502920"/>
          </a:xfrm>
          <a:prstGeom prst="rect">
            <a:avLst/>
          </a:prstGeom>
          <a:noFill/>
          <a:ln/>
        </p:spPr>
        <p:txBody>
          <a:bodyPr wrap="square" lIns="0" tIns="0" rIns="0" bIns="0" rtlCol="0" anchor="ctr"/>
          <a:lstStyle/>
          <a:p>
            <a:pPr marL="0" indent="0">
              <a:buNone/>
            </a:pPr>
            <a:r>
              <a:rPr lang="en-US" sz="1600" i="1" dirty="0">
                <a:solidFill>
                  <a:srgbClr val="6A6A6A"/>
                </a:solidFill>
                <a:latin typeface="Cormorant Garamond" pitchFamily="2" charset="77"/>
                <a:ea typeface="Calibri" pitchFamily="34" charset="-122"/>
                <a:cs typeface="Calibri" pitchFamily="34" charset="-120"/>
              </a:rPr>
              <a:t>The right route depends on your profile and objectives, and is agreed after strategy consultation. We'll talk through the detail today.</a:t>
            </a:r>
            <a:endParaRPr lang="en-US" sz="1600" dirty="0">
              <a:latin typeface="Cormorant Garamond" pitchFamily="2" charset="77"/>
            </a:endParaRPr>
          </a:p>
        </p:txBody>
      </p:sp>
      <p:sp>
        <p:nvSpPr>
          <p:cNvPr id="16" name="TextBox 15">
            <a:extLst>
              <a:ext uri="{FF2B5EF4-FFF2-40B4-BE49-F238E27FC236}">
                <a16:creationId xmlns:a16="http://schemas.microsoft.com/office/drawing/2014/main" id="{7A9505E1-58A9-0834-5D8C-0E05FCC58CDD}"/>
              </a:ext>
            </a:extLst>
          </p:cNvPr>
          <p:cNvSpPr txBox="1"/>
          <p:nvPr/>
        </p:nvSpPr>
        <p:spPr>
          <a:xfrm>
            <a:off x="899160" y="3250913"/>
            <a:ext cx="4256625" cy="584775"/>
          </a:xfrm>
          <a:prstGeom prst="rect">
            <a:avLst/>
          </a:prstGeom>
          <a:noFill/>
        </p:spPr>
        <p:txBody>
          <a:bodyPr wrap="square" rtlCol="0">
            <a:spAutoFit/>
          </a:bodyPr>
          <a:lstStyle/>
          <a:p>
            <a:endParaRPr lang="en-US" sz="1600" dirty="0">
              <a:solidFill>
                <a:schemeClr val="bg1"/>
              </a:solidFill>
              <a:latin typeface="Grotesque" panose="020B0504020202020204" pitchFamily="34" charset="0"/>
            </a:endParaRPr>
          </a:p>
          <a:p>
            <a:r>
              <a:rPr lang="en-US" sz="1600" dirty="0">
                <a:solidFill>
                  <a:schemeClr val="bg1"/>
                </a:solidFill>
                <a:latin typeface="Grotesque" panose="020B0504020202020204" pitchFamily="34" charset="0"/>
              </a:rPr>
              <a:t>£4,800 + VAT per month   no operation fee</a:t>
            </a:r>
            <a:endParaRPr lang="en-GB" sz="1600" dirty="0">
              <a:solidFill>
                <a:schemeClr val="bg1"/>
              </a:solidFill>
              <a:latin typeface="Grotesque" panose="020B0504020202020204" pitchFamily="34" charset="0"/>
            </a:endParaRPr>
          </a:p>
        </p:txBody>
      </p:sp>
      <p:sp>
        <p:nvSpPr>
          <p:cNvPr id="17" name="TextBox 16">
            <a:extLst>
              <a:ext uri="{FF2B5EF4-FFF2-40B4-BE49-F238E27FC236}">
                <a16:creationId xmlns:a16="http://schemas.microsoft.com/office/drawing/2014/main" id="{720A5DB9-3BC9-2831-ECB2-C2C7D4C2534B}"/>
              </a:ext>
            </a:extLst>
          </p:cNvPr>
          <p:cNvSpPr txBox="1"/>
          <p:nvPr/>
        </p:nvSpPr>
        <p:spPr>
          <a:xfrm>
            <a:off x="6515100" y="3646170"/>
            <a:ext cx="4777740" cy="1631216"/>
          </a:xfrm>
          <a:prstGeom prst="rect">
            <a:avLst/>
          </a:prstGeom>
          <a:noFill/>
        </p:spPr>
        <p:txBody>
          <a:bodyPr wrap="square" rtlCol="0">
            <a:spAutoFit/>
          </a:bodyPr>
          <a:lstStyle/>
          <a:p>
            <a:r>
              <a:rPr lang="en-US" sz="1600" dirty="0">
                <a:latin typeface="Grotesque" panose="020B0504020202020204" pitchFamily="34" charset="0"/>
              </a:rPr>
              <a:t>15% Operational Fee - For the duration of a student’s enrolment, no – retainer.  Success based, tied to pupils staying &amp; thriving.</a:t>
            </a:r>
          </a:p>
          <a:p>
            <a:endParaRPr lang="en-US" sz="1300" dirty="0">
              <a:latin typeface="Grotesque" panose="020B0504020202020204" pitchFamily="34" charset="0"/>
            </a:endParaRPr>
          </a:p>
          <a:p>
            <a:r>
              <a:rPr lang="en-US" sz="1300" dirty="0">
                <a:latin typeface="Grotesque" panose="020B0504020202020204" pitchFamily="34" charset="0"/>
              </a:rPr>
              <a:t>Suited to partners that want BEP to be paid on successful recruitment for a clearly defined recruitment activity.</a:t>
            </a:r>
          </a:p>
          <a:p>
            <a:pPr marL="285750" indent="-285750">
              <a:buFont typeface="Arial" panose="020B0604020202020204" pitchFamily="34" charset="0"/>
              <a:buChar char="•"/>
            </a:pPr>
            <a:endParaRPr lang="en-GB" sz="1300" dirty="0">
              <a:latin typeface="Grotesque" panose="020B05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6331E"/>
        </a:solidFill>
        <a:effectLst/>
      </p:bgPr>
    </p:bg>
    <p:spTree>
      <p:nvGrpSpPr>
        <p:cNvPr id="1" name=""/>
        <p:cNvGrpSpPr/>
        <p:nvPr/>
      </p:nvGrpSpPr>
      <p:grpSpPr>
        <a:xfrm>
          <a:off x="0" y="0"/>
          <a:ext cx="0" cy="0"/>
          <a:chOff x="0" y="0"/>
          <a:chExt cx="0" cy="0"/>
        </a:xfrm>
      </p:grpSpPr>
      <p:pic>
        <p:nvPicPr>
          <p:cNvPr id="2" name="Image 0" descr="icons/Cream Transparent.png"/>
          <p:cNvPicPr>
            <a:picLocks noChangeAspect="1"/>
          </p:cNvPicPr>
          <p:nvPr/>
        </p:nvPicPr>
        <p:blipFill>
          <a:blip r:embed="rId3">
            <a:alphaModFix amt="12000"/>
          </a:blip>
          <a:stretch>
            <a:fillRect/>
          </a:stretch>
        </p:blipFill>
        <p:spPr>
          <a:xfrm>
            <a:off x="10177272" y="4846320"/>
            <a:ext cx="3108960" cy="3108960"/>
          </a:xfrm>
          <a:prstGeom prst="rect">
            <a:avLst/>
          </a:prstGeom>
        </p:spPr>
      </p:pic>
      <p:sp>
        <p:nvSpPr>
          <p:cNvPr id="3" name="Text 0"/>
          <p:cNvSpPr/>
          <p:nvPr/>
        </p:nvSpPr>
        <p:spPr>
          <a:xfrm>
            <a:off x="640080" y="502920"/>
            <a:ext cx="8229600" cy="320040"/>
          </a:xfrm>
          <a:prstGeom prst="rect">
            <a:avLst/>
          </a:prstGeom>
          <a:noFill/>
          <a:ln/>
        </p:spPr>
        <p:txBody>
          <a:bodyPr wrap="square" lIns="0" tIns="0" rIns="0" bIns="0" rtlCol="0" anchor="ctr"/>
          <a:lstStyle/>
          <a:p>
            <a:pPr marL="0" indent="0">
              <a:buNone/>
            </a:pPr>
            <a:r>
              <a:rPr lang="en-US" sz="1200" b="1" kern="0" spc="300" dirty="0">
                <a:solidFill>
                  <a:srgbClr val="B99A5B"/>
                </a:solidFill>
                <a:latin typeface="Grotesque" panose="020B0504020202020204" pitchFamily="34" charset="0"/>
                <a:ea typeface="Calibri" pitchFamily="34" charset="-122"/>
                <a:cs typeface="Calibri" pitchFamily="34" charset="-120"/>
              </a:rPr>
              <a:t>OVER TO YOU</a:t>
            </a:r>
            <a:endParaRPr lang="en-US" sz="1200" dirty="0">
              <a:latin typeface="Grotesque" panose="020B0504020202020204" pitchFamily="34" charset="0"/>
            </a:endParaRPr>
          </a:p>
        </p:txBody>
      </p:sp>
      <p:sp>
        <p:nvSpPr>
          <p:cNvPr id="4" name="Text 1"/>
          <p:cNvSpPr/>
          <p:nvPr/>
        </p:nvSpPr>
        <p:spPr>
          <a:xfrm>
            <a:off x="640080" y="914400"/>
            <a:ext cx="10881360" cy="868680"/>
          </a:xfrm>
          <a:prstGeom prst="rect">
            <a:avLst/>
          </a:prstGeom>
          <a:noFill/>
          <a:ln/>
        </p:spPr>
        <p:txBody>
          <a:bodyPr wrap="square" lIns="0" tIns="0" rIns="0" bIns="0" rtlCol="0" anchor="ctr"/>
          <a:lstStyle/>
          <a:p>
            <a:pPr marL="0" indent="0">
              <a:buNone/>
            </a:pPr>
            <a:r>
              <a:rPr lang="en-US" sz="3600" b="1" dirty="0">
                <a:solidFill>
                  <a:srgbClr val="FFFFFF"/>
                </a:solidFill>
                <a:latin typeface="Cormorant Garamond" pitchFamily="2" charset="77"/>
                <a:ea typeface="Century Schoolbook" pitchFamily="34" charset="-122"/>
                <a:cs typeface="Century Schoolbook" pitchFamily="34" charset="-120"/>
              </a:rPr>
              <a:t>Tell us about your school</a:t>
            </a:r>
            <a:endParaRPr lang="en-US" sz="3600" dirty="0">
              <a:latin typeface="Cormorant Garamond" pitchFamily="2" charset="77"/>
            </a:endParaRPr>
          </a:p>
        </p:txBody>
      </p:sp>
      <p:sp>
        <p:nvSpPr>
          <p:cNvPr id="5" name="Text 2"/>
          <p:cNvSpPr/>
          <p:nvPr/>
        </p:nvSpPr>
        <p:spPr>
          <a:xfrm>
            <a:off x="640080" y="2057400"/>
            <a:ext cx="10881360" cy="1645920"/>
          </a:xfrm>
          <a:prstGeom prst="rect">
            <a:avLst/>
          </a:prstGeom>
          <a:noFill/>
          <a:ln/>
        </p:spPr>
        <p:txBody>
          <a:bodyPr wrap="square" lIns="0" tIns="0" rIns="0" bIns="0" rtlCol="0" anchor="ctr"/>
          <a:lstStyle/>
          <a:p>
            <a:pPr marL="342900" indent="-342900">
              <a:spcAft>
                <a:spcPts val="1200"/>
              </a:spcAft>
              <a:buSzPct val="100000"/>
              <a:buChar char="•"/>
            </a:pPr>
            <a:r>
              <a:rPr lang="en-US" sz="1600" dirty="0">
                <a:solidFill>
                  <a:srgbClr val="F1EDE3"/>
                </a:solidFill>
                <a:latin typeface="Grotesque" panose="020B0504020202020204" pitchFamily="34" charset="0"/>
                <a:ea typeface="Calibri" pitchFamily="34" charset="-122"/>
                <a:cs typeface="Calibri" pitchFamily="34" charset="-120"/>
              </a:rPr>
              <a:t>Where is your international enrolment strong, and where is it thin?</a:t>
            </a:r>
            <a:endParaRPr lang="en-US" sz="1600" dirty="0">
              <a:latin typeface="Grotesque" panose="020B0504020202020204" pitchFamily="34" charset="0"/>
            </a:endParaRPr>
          </a:p>
          <a:p>
            <a:pPr marL="342900" indent="-342900">
              <a:spcAft>
                <a:spcPts val="1200"/>
              </a:spcAft>
              <a:buSzPct val="100000"/>
              <a:buChar char="•"/>
            </a:pPr>
            <a:r>
              <a:rPr lang="en-US" sz="1600" dirty="0">
                <a:solidFill>
                  <a:srgbClr val="F1EDE3"/>
                </a:solidFill>
                <a:latin typeface="Grotesque" panose="020B0504020202020204" pitchFamily="34" charset="0"/>
                <a:ea typeface="Calibri" pitchFamily="34" charset="-122"/>
                <a:cs typeface="Calibri" pitchFamily="34" charset="-120"/>
              </a:rPr>
              <a:t>Which markets work for you today, and which should?</a:t>
            </a:r>
            <a:endParaRPr lang="en-US" sz="1600" dirty="0">
              <a:latin typeface="Grotesque" panose="020B0504020202020204" pitchFamily="34" charset="0"/>
            </a:endParaRPr>
          </a:p>
          <a:p>
            <a:pPr marL="342900" indent="-342900">
              <a:spcAft>
                <a:spcPts val="1200"/>
              </a:spcAft>
              <a:buSzPct val="100000"/>
              <a:buChar char="•"/>
            </a:pPr>
            <a:r>
              <a:rPr lang="en-US" sz="1600" dirty="0">
                <a:solidFill>
                  <a:srgbClr val="F1EDE3"/>
                </a:solidFill>
                <a:latin typeface="Grotesque" panose="020B0504020202020204" pitchFamily="34" charset="0"/>
                <a:ea typeface="Calibri" pitchFamily="34" charset="-122"/>
                <a:cs typeface="Calibri" pitchFamily="34" charset="-120"/>
              </a:rPr>
              <a:t>What would ten more right-fit applications mean for September 2027?</a:t>
            </a:r>
            <a:endParaRPr lang="en-US" sz="1600" dirty="0">
              <a:latin typeface="Grotesque" panose="020B0504020202020204" pitchFamily="34" charset="0"/>
            </a:endParaRPr>
          </a:p>
        </p:txBody>
      </p:sp>
      <p:sp>
        <p:nvSpPr>
          <p:cNvPr id="6" name="Text 3"/>
          <p:cNvSpPr/>
          <p:nvPr/>
        </p:nvSpPr>
        <p:spPr>
          <a:xfrm>
            <a:off x="640080" y="3977640"/>
            <a:ext cx="10881360" cy="868680"/>
          </a:xfrm>
          <a:prstGeom prst="rect">
            <a:avLst/>
          </a:prstGeom>
          <a:noFill/>
          <a:ln/>
        </p:spPr>
        <p:txBody>
          <a:bodyPr wrap="square" lIns="0" tIns="0" rIns="0" bIns="0" rtlCol="0" anchor="ctr"/>
          <a:lstStyle/>
          <a:p>
            <a:pPr marL="0" indent="0">
              <a:buNone/>
            </a:pPr>
            <a:r>
              <a:rPr lang="en-US" sz="1400" dirty="0">
                <a:solidFill>
                  <a:srgbClr val="FFFFFF"/>
                </a:solidFill>
                <a:latin typeface="Grotesque" panose="020B0504020202020204" pitchFamily="34" charset="0"/>
                <a:ea typeface="Calibri" pitchFamily="34" charset="-122"/>
                <a:cs typeface="Calibri" pitchFamily="34" charset="-120"/>
              </a:rPr>
              <a:t>If today feels like a fit, the next step is a tailored proposal within the week: your agreed territories, the gaps we've identified together, and the route that suits how you want to work. Under NDA, with a written undertaking not to approach or work around any agent of yours.</a:t>
            </a:r>
            <a:endParaRPr lang="en-US" sz="1400" dirty="0">
              <a:latin typeface="Grotesque" panose="020B0504020202020204" pitchFamily="34" charset="0"/>
            </a:endParaRPr>
          </a:p>
        </p:txBody>
      </p:sp>
      <p:sp>
        <p:nvSpPr>
          <p:cNvPr id="7" name="Text 4"/>
          <p:cNvSpPr/>
          <p:nvPr/>
        </p:nvSpPr>
        <p:spPr>
          <a:xfrm>
            <a:off x="640080" y="4983480"/>
            <a:ext cx="10881360" cy="640080"/>
          </a:xfrm>
          <a:prstGeom prst="rect">
            <a:avLst/>
          </a:prstGeom>
          <a:noFill/>
          <a:ln/>
        </p:spPr>
        <p:txBody>
          <a:bodyPr wrap="square" lIns="0" tIns="0" rIns="0" bIns="0" rtlCol="0" anchor="ctr"/>
          <a:lstStyle/>
          <a:p>
            <a:pPr marL="0" indent="0">
              <a:buNone/>
            </a:pPr>
            <a:r>
              <a:rPr lang="en-US" sz="2000" i="1" dirty="0">
                <a:solidFill>
                  <a:srgbClr val="B99A5B"/>
                </a:solidFill>
                <a:latin typeface="Cormorant Garamond" pitchFamily="2" charset="77"/>
                <a:ea typeface="Century Schoolbook" pitchFamily="34" charset="-122"/>
                <a:cs typeface="Century Schoolbook" pitchFamily="34" charset="-120"/>
              </a:rPr>
              <a:t>A founding cohort of no more than ten schools, curated as a complementary portfolio, launching in the Autumn term.</a:t>
            </a:r>
            <a:endParaRPr lang="en-US" sz="2000" dirty="0">
              <a:latin typeface="Cormorant Garamond"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TotalTime>
  <Words>1489</Words>
  <Application>Microsoft Office PowerPoint</Application>
  <PresentationFormat>Widescreen</PresentationFormat>
  <Paragraphs>113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Cormorant Garamond</vt:lpstr>
      <vt:lpstr>Grotesque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John Perry</cp:lastModifiedBy>
  <cp:revision>6</cp:revision>
  <dcterms:created xsi:type="dcterms:W3CDTF">2026-08-06T21:52:22Z</dcterms:created>
  <dcterms:modified xsi:type="dcterms:W3CDTF">2026-08-20T08:35:50Z</dcterms:modified>
</cp:coreProperties>
</file>